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554480"/>
          </a:xfrm>
          <a:prstGeom prst="rect">
            <a:avLst/>
          </a:prstGeom>
          <a:solidFill>
            <a:srgbClr val="0B2A4A"/>
          </a:solidFill>
          <a:ln/>
        </p:spPr>
      </p:sp>
      <p:sp>
        <p:nvSpPr>
          <p:cNvPr id="3" name="Shape 1"/>
          <p:cNvSpPr/>
          <p:nvPr/>
        </p:nvSpPr>
        <p:spPr>
          <a:xfrm>
            <a:off x="0" y="1554480"/>
            <a:ext cx="12161520" cy="73152"/>
          </a:xfrm>
          <a:prstGeom prst="rect">
            <a:avLst/>
          </a:prstGeom>
          <a:solidFill>
            <a:srgbClr val="FFA000"/>
          </a:solidFill>
          <a:ln/>
        </p:spPr>
      </p:sp>
      <p:pic>
        <p:nvPicPr>
          <p:cNvPr id="4" name="Image 0" descr="/home/claude/ycce_logo.jpg">    </p:cNvPr>
          <p:cNvPicPr>
            <a:picLocks noChangeAspect="1"/>
          </p:cNvPicPr>
          <p:nvPr/>
        </p:nvPicPr>
        <p:blipFill>
          <a:blip r:embed="rId1"/>
          <a:stretch>
            <a:fillRect/>
          </a:stretch>
        </p:blipFill>
        <p:spPr>
          <a:xfrm>
            <a:off x="365760" y="274320"/>
            <a:ext cx="1005840" cy="1005840"/>
          </a:xfrm>
          <a:prstGeom prst="rect">
            <a:avLst/>
          </a:prstGeom>
        </p:spPr>
      </p:pic>
      <p:pic>
        <p:nvPicPr>
          <p:cNvPr id="5" name="Image 1" descr="/home/claude/meghe_logo.jpg">    </p:cNvPr>
          <p:cNvPicPr>
            <a:picLocks noChangeAspect="1"/>
          </p:cNvPicPr>
          <p:nvPr/>
        </p:nvPicPr>
        <p:blipFill>
          <a:blip r:embed="rId2"/>
          <a:stretch>
            <a:fillRect/>
          </a:stretch>
        </p:blipFill>
        <p:spPr>
          <a:xfrm>
            <a:off x="10789920" y="365760"/>
            <a:ext cx="1005840" cy="822960"/>
          </a:xfrm>
          <a:prstGeom prst="rect">
            <a:avLst/>
          </a:prstGeom>
        </p:spPr>
      </p:pic>
      <p:sp>
        <p:nvSpPr>
          <p:cNvPr id="6" name="Text 2"/>
          <p:cNvSpPr/>
          <p:nvPr/>
        </p:nvSpPr>
        <p:spPr>
          <a:xfrm>
            <a:off x="1554480" y="228600"/>
            <a:ext cx="905256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Nagar Yuwak Shikshan Sanstha's</a:t>
            </a:r>
            <a:endParaRPr lang="en-US" sz="1300" dirty="0"/>
          </a:p>
        </p:txBody>
      </p:sp>
      <p:sp>
        <p:nvSpPr>
          <p:cNvPr id="7" name="Text 3"/>
          <p:cNvSpPr/>
          <p:nvPr/>
        </p:nvSpPr>
        <p:spPr>
          <a:xfrm>
            <a:off x="1554480" y="502920"/>
            <a:ext cx="905256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Yeshwantrao Chavan College of Engineering</a:t>
            </a:r>
            <a:endParaRPr lang="en-US" sz="2200" dirty="0"/>
          </a:p>
        </p:txBody>
      </p:sp>
      <p:sp>
        <p:nvSpPr>
          <p:cNvPr id="8" name="Text 4"/>
          <p:cNvSpPr/>
          <p:nvPr/>
        </p:nvSpPr>
        <p:spPr>
          <a:xfrm>
            <a:off x="1554480" y="960120"/>
            <a:ext cx="9052560" cy="274320"/>
          </a:xfrm>
          <a:prstGeom prst="rect">
            <a:avLst/>
          </a:prstGeom>
          <a:noFill/>
          <a:ln/>
        </p:spPr>
        <p:txBody>
          <a:bodyPr wrap="square" lIns="0" tIns="0" rIns="0" bIns="0"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NAAC A++  |  Autonomous Institution affiliated to RTM Nagpur University</a:t>
            </a:r>
            <a:endParaRPr lang="en-US" sz="1100" dirty="0"/>
          </a:p>
        </p:txBody>
      </p:sp>
      <p:sp>
        <p:nvSpPr>
          <p:cNvPr id="9" name="Text 5"/>
          <p:cNvSpPr/>
          <p:nvPr/>
        </p:nvSpPr>
        <p:spPr>
          <a:xfrm>
            <a:off x="1554480" y="1234440"/>
            <a:ext cx="905256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Hingna Road, Nagpur, Maharashtra, India  •  www.ycce.edu</a:t>
            </a:r>
            <a:endParaRPr lang="en-US" sz="1000" dirty="0"/>
          </a:p>
        </p:txBody>
      </p:sp>
      <p:sp>
        <p:nvSpPr>
          <p:cNvPr id="10" name="Text 6"/>
          <p:cNvSpPr/>
          <p:nvPr/>
        </p:nvSpPr>
        <p:spPr>
          <a:xfrm>
            <a:off x="914400" y="2011680"/>
            <a:ext cx="10332720" cy="548640"/>
          </a:xfrm>
          <a:prstGeom prst="rect">
            <a:avLst/>
          </a:prstGeom>
          <a:noFill/>
          <a:ln/>
        </p:spPr>
        <p:txBody>
          <a:bodyPr wrap="square" lIns="0" tIns="0" rIns="0" bIns="0" rtlCol="0" anchor="ctr"/>
          <a:lstStyle/>
          <a:p>
            <a:pPr algn="ctr" indent="0" marL="0">
              <a:buNone/>
            </a:pPr>
            <a:r>
              <a:rPr lang="en-US" sz="2200" i="1" dirty="0">
                <a:solidFill>
                  <a:srgbClr val="00838F"/>
                </a:solidFill>
                <a:latin typeface="Calibri" pitchFamily="34" charset="0"/>
                <a:ea typeface="Calibri" pitchFamily="34" charset="-122"/>
                <a:cs typeface="Calibri" pitchFamily="34" charset="-120"/>
              </a:rPr>
              <a:t>ESE Internship Seminar (40M)</a:t>
            </a:r>
            <a:endParaRPr lang="en-US" sz="2200" dirty="0"/>
          </a:p>
        </p:txBody>
      </p:sp>
      <p:sp>
        <p:nvSpPr>
          <p:cNvPr id="11" name="Text 7"/>
          <p:cNvSpPr/>
          <p:nvPr/>
        </p:nvSpPr>
        <p:spPr>
          <a:xfrm>
            <a:off x="914400" y="2697480"/>
            <a:ext cx="10332720" cy="868680"/>
          </a:xfrm>
          <a:prstGeom prst="rect">
            <a:avLst/>
          </a:prstGeom>
          <a:noFill/>
          <a:ln/>
        </p:spPr>
        <p:txBody>
          <a:bodyPr wrap="square" lIns="0" tIns="0" rIns="0" bIns="0" rtlCol="0" anchor="ctr"/>
          <a:lstStyle/>
          <a:p>
            <a:pPr algn="ctr" indent="0" marL="0">
              <a:buNone/>
            </a:pPr>
            <a:r>
              <a:rPr lang="en-US" sz="5400" b="1" dirty="0">
                <a:solidFill>
                  <a:srgbClr val="0B2A4A"/>
                </a:solidFill>
                <a:latin typeface="Calibri" pitchFamily="34" charset="0"/>
                <a:ea typeface="Calibri" pitchFamily="34" charset="-122"/>
                <a:cs typeface="Calibri" pitchFamily="34" charset="-120"/>
              </a:rPr>
              <a:t>TranspoLink</a:t>
            </a:r>
            <a:endParaRPr lang="en-US" sz="5400" dirty="0"/>
          </a:p>
        </p:txBody>
      </p:sp>
      <p:sp>
        <p:nvSpPr>
          <p:cNvPr id="12" name="Text 8"/>
          <p:cNvSpPr/>
          <p:nvPr/>
        </p:nvSpPr>
        <p:spPr>
          <a:xfrm>
            <a:off x="914400" y="3566160"/>
            <a:ext cx="10332720" cy="502920"/>
          </a:xfrm>
          <a:prstGeom prst="rect">
            <a:avLst/>
          </a:prstGeom>
          <a:noFill/>
          <a:ln/>
        </p:spPr>
        <p:txBody>
          <a:bodyPr wrap="square" lIns="0" tIns="0" rIns="0" bIns="0" rtlCol="0" anchor="ctr"/>
          <a:lstStyle/>
          <a:p>
            <a:pPr algn="ctr" indent="0" marL="0">
              <a:buNone/>
            </a:pPr>
            <a:r>
              <a:rPr lang="en-US" sz="2200" dirty="0">
                <a:solidFill>
                  <a:srgbClr val="1565C0"/>
                </a:solidFill>
                <a:latin typeface="Calibri" pitchFamily="34" charset="0"/>
                <a:ea typeface="Calibri" pitchFamily="34" charset="-122"/>
                <a:cs typeface="Calibri" pitchFamily="34" charset="-120"/>
              </a:rPr>
              <a:t>Smart Transportation &amp; Traffic Management System</a:t>
            </a:r>
            <a:endParaRPr lang="en-US" sz="2200" dirty="0"/>
          </a:p>
        </p:txBody>
      </p:sp>
      <p:sp>
        <p:nvSpPr>
          <p:cNvPr id="13" name="Shape 9"/>
          <p:cNvSpPr/>
          <p:nvPr/>
        </p:nvSpPr>
        <p:spPr>
          <a:xfrm>
            <a:off x="5166360" y="4160520"/>
            <a:ext cx="1828800" cy="36576"/>
          </a:xfrm>
          <a:prstGeom prst="rect">
            <a:avLst/>
          </a:prstGeom>
          <a:solidFill>
            <a:srgbClr val="FFA000"/>
          </a:solidFill>
          <a:ln/>
        </p:spPr>
      </p:sp>
      <p:sp>
        <p:nvSpPr>
          <p:cNvPr id="14" name="Text 10"/>
          <p:cNvSpPr/>
          <p:nvPr/>
        </p:nvSpPr>
        <p:spPr>
          <a:xfrm>
            <a:off x="2286000" y="4434840"/>
            <a:ext cx="3474720" cy="274320"/>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PRESENTED BY</a:t>
            </a:r>
            <a:endParaRPr lang="en-US" sz="1100" dirty="0"/>
          </a:p>
        </p:txBody>
      </p:sp>
      <p:sp>
        <p:nvSpPr>
          <p:cNvPr id="15" name="Text 11"/>
          <p:cNvSpPr/>
          <p:nvPr/>
        </p:nvSpPr>
        <p:spPr>
          <a:xfrm>
            <a:off x="2286000" y="4709160"/>
            <a:ext cx="3474720" cy="411480"/>
          </a:xfrm>
          <a:prstGeom prst="rect">
            <a:avLst/>
          </a:prstGeom>
          <a:noFill/>
          <a:ln/>
        </p:spPr>
        <p:txBody>
          <a:bodyPr wrap="square" lIns="0" tIns="0" rIns="0" bIns="0" rtlCol="0" anchor="ctr"/>
          <a:lstStyle/>
          <a:p>
            <a:pPr algn="ctr" indent="0" marL="0">
              <a:buNone/>
            </a:pPr>
            <a:r>
              <a:rPr lang="en-US" sz="1800" b="1" dirty="0">
                <a:solidFill>
                  <a:srgbClr val="0B2A4A"/>
                </a:solidFill>
                <a:latin typeface="Calibri" pitchFamily="34" charset="0"/>
                <a:ea typeface="Calibri" pitchFamily="34" charset="-122"/>
                <a:cs typeface="Calibri" pitchFamily="34" charset="-120"/>
              </a:rPr>
              <a:t>Name — Roll No</a:t>
            </a:r>
            <a:endParaRPr lang="en-US" sz="1800" dirty="0"/>
          </a:p>
        </p:txBody>
      </p:sp>
      <p:sp>
        <p:nvSpPr>
          <p:cNvPr id="16" name="Text 12"/>
          <p:cNvSpPr/>
          <p:nvPr/>
        </p:nvSpPr>
        <p:spPr>
          <a:xfrm>
            <a:off x="6400800" y="4434840"/>
            <a:ext cx="3474720" cy="274320"/>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SUPERVISED BY</a:t>
            </a:r>
            <a:endParaRPr lang="en-US" sz="1100" dirty="0"/>
          </a:p>
        </p:txBody>
      </p:sp>
      <p:sp>
        <p:nvSpPr>
          <p:cNvPr id="17" name="Text 13"/>
          <p:cNvSpPr/>
          <p:nvPr/>
        </p:nvSpPr>
        <p:spPr>
          <a:xfrm>
            <a:off x="6400800" y="4709160"/>
            <a:ext cx="3474720" cy="411480"/>
          </a:xfrm>
          <a:prstGeom prst="rect">
            <a:avLst/>
          </a:prstGeom>
          <a:noFill/>
          <a:ln/>
        </p:spPr>
        <p:txBody>
          <a:bodyPr wrap="square" lIns="0" tIns="0" rIns="0" bIns="0" rtlCol="0" anchor="ctr"/>
          <a:lstStyle/>
          <a:p>
            <a:pPr algn="ctr" indent="0" marL="0">
              <a:buNone/>
            </a:pPr>
            <a:r>
              <a:rPr lang="en-US" sz="1800" b="1" dirty="0">
                <a:solidFill>
                  <a:srgbClr val="0B2A4A"/>
                </a:solidFill>
                <a:latin typeface="Calibri" pitchFamily="34" charset="0"/>
                <a:ea typeface="Calibri" pitchFamily="34" charset="-122"/>
                <a:cs typeface="Calibri" pitchFamily="34" charset="-120"/>
              </a:rPr>
              <a:t>Guide Name</a:t>
            </a:r>
            <a:endParaRPr lang="en-US" sz="1800" dirty="0"/>
          </a:p>
        </p:txBody>
      </p:sp>
      <p:sp>
        <p:nvSpPr>
          <p:cNvPr id="18" name="Shape 14"/>
          <p:cNvSpPr/>
          <p:nvPr/>
        </p:nvSpPr>
        <p:spPr>
          <a:xfrm>
            <a:off x="0" y="5852160"/>
            <a:ext cx="12161520" cy="1005840"/>
          </a:xfrm>
          <a:prstGeom prst="rect">
            <a:avLst/>
          </a:prstGeom>
          <a:solidFill>
            <a:srgbClr val="F4F7FB"/>
          </a:solidFill>
          <a:ln/>
        </p:spPr>
      </p:sp>
      <p:sp>
        <p:nvSpPr>
          <p:cNvPr id="19" name="Text 15"/>
          <p:cNvSpPr/>
          <p:nvPr/>
        </p:nvSpPr>
        <p:spPr>
          <a:xfrm>
            <a:off x="457200" y="5943600"/>
            <a:ext cx="11247120" cy="365760"/>
          </a:xfrm>
          <a:prstGeom prst="rect">
            <a:avLst/>
          </a:prstGeom>
          <a:noFill/>
          <a:ln/>
        </p:spPr>
        <p:txBody>
          <a:bodyPr wrap="square" lIns="0" tIns="0" rIns="0" bIns="0" rtlCol="0" anchor="ctr"/>
          <a:lstStyle/>
          <a:p>
            <a:pPr algn="ctr" indent="0" marL="0">
              <a:buNone/>
            </a:pPr>
            <a:r>
              <a:rPr lang="en-US" sz="1600" b="1" dirty="0">
                <a:solidFill>
                  <a:srgbClr val="0B2A4A"/>
                </a:solidFill>
                <a:latin typeface="Calibri" pitchFamily="34" charset="0"/>
                <a:ea typeface="Calibri" pitchFamily="34" charset="-122"/>
                <a:cs typeface="Calibri" pitchFamily="34" charset="-120"/>
              </a:rPr>
              <a:t>Department of Information Technology</a:t>
            </a:r>
            <a:endParaRPr lang="en-US" sz="1600" dirty="0"/>
          </a:p>
        </p:txBody>
      </p:sp>
      <p:sp>
        <p:nvSpPr>
          <p:cNvPr id="20" name="Text 16"/>
          <p:cNvSpPr/>
          <p:nvPr/>
        </p:nvSpPr>
        <p:spPr>
          <a:xfrm>
            <a:off x="457200" y="6309360"/>
            <a:ext cx="11247120" cy="27432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Yeshwantrao Chavan College of Engineering, Nagpur</a:t>
            </a:r>
            <a:endParaRPr lang="en-US" sz="1200" dirty="0"/>
          </a:p>
        </p:txBody>
      </p:sp>
      <p:sp>
        <p:nvSpPr>
          <p:cNvPr id="21" name="Text 17"/>
          <p:cNvSpPr/>
          <p:nvPr/>
        </p:nvSpPr>
        <p:spPr>
          <a:xfrm>
            <a:off x="457200" y="6583680"/>
            <a:ext cx="11247120" cy="274320"/>
          </a:xfrm>
          <a:prstGeom prst="rect">
            <a:avLst/>
          </a:prstGeom>
          <a:noFill/>
          <a:ln/>
        </p:spPr>
        <p:txBody>
          <a:bodyPr wrap="square" lIns="0" tIns="0" rIns="0" bIns="0" rtlCol="0" anchor="ctr"/>
          <a:lstStyle/>
          <a:p>
            <a:pPr algn="ctr" indent="0" marL="0">
              <a:buNone/>
            </a:pPr>
            <a:r>
              <a:rPr lang="en-US" sz="1200" b="1" i="1" dirty="0">
                <a:solidFill>
                  <a:srgbClr val="00838F"/>
                </a:solidFill>
                <a:latin typeface="Calibri" pitchFamily="34" charset="0"/>
                <a:ea typeface="Calibri" pitchFamily="34" charset="-122"/>
                <a:cs typeface="Calibri" pitchFamily="34" charset="-120"/>
              </a:rPr>
              <a:t>Session 2025-26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Contents</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Shape 2"/>
          <p:cNvSpPr/>
          <p:nvPr/>
        </p:nvSpPr>
        <p:spPr>
          <a:xfrm>
            <a:off x="822960" y="1417320"/>
            <a:ext cx="5120640" cy="640080"/>
          </a:xfrm>
          <a:prstGeom prst="rect">
            <a:avLst/>
          </a:prstGeom>
          <a:solidFill>
            <a:srgbClr val="F4F7FB"/>
          </a:solidFill>
          <a:ln/>
        </p:spPr>
      </p:sp>
      <p:sp>
        <p:nvSpPr>
          <p:cNvPr id="7" name="Shape 3"/>
          <p:cNvSpPr/>
          <p:nvPr/>
        </p:nvSpPr>
        <p:spPr>
          <a:xfrm>
            <a:off x="822960" y="1417320"/>
            <a:ext cx="91440" cy="640080"/>
          </a:xfrm>
          <a:prstGeom prst="rect">
            <a:avLst/>
          </a:prstGeom>
          <a:solidFill>
            <a:srgbClr val="1565C0"/>
          </a:solidFill>
          <a:ln/>
        </p:spPr>
      </p:sp>
      <p:sp>
        <p:nvSpPr>
          <p:cNvPr id="8" name="Shape 4"/>
          <p:cNvSpPr/>
          <p:nvPr/>
        </p:nvSpPr>
        <p:spPr>
          <a:xfrm>
            <a:off x="1097280" y="1554480"/>
            <a:ext cx="365760" cy="365760"/>
          </a:xfrm>
          <a:prstGeom prst="ellipse">
            <a:avLst/>
          </a:prstGeom>
          <a:solidFill>
            <a:srgbClr val="0B2A4A"/>
          </a:solidFill>
          <a:ln/>
        </p:spPr>
      </p:sp>
      <p:sp>
        <p:nvSpPr>
          <p:cNvPr id="9" name="Text 5"/>
          <p:cNvSpPr/>
          <p:nvPr/>
        </p:nvSpPr>
        <p:spPr>
          <a:xfrm>
            <a:off x="1097280" y="15544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0" name="Text 6"/>
          <p:cNvSpPr/>
          <p:nvPr/>
        </p:nvSpPr>
        <p:spPr>
          <a:xfrm>
            <a:off x="1600200" y="141732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Introduction</a:t>
            </a:r>
            <a:endParaRPr lang="en-US" sz="1400" dirty="0"/>
          </a:p>
        </p:txBody>
      </p:sp>
      <p:sp>
        <p:nvSpPr>
          <p:cNvPr id="11" name="Shape 7"/>
          <p:cNvSpPr/>
          <p:nvPr/>
        </p:nvSpPr>
        <p:spPr>
          <a:xfrm>
            <a:off x="6217920" y="1417320"/>
            <a:ext cx="5120640" cy="640080"/>
          </a:xfrm>
          <a:prstGeom prst="rect">
            <a:avLst/>
          </a:prstGeom>
          <a:solidFill>
            <a:srgbClr val="F4F7FB"/>
          </a:solidFill>
          <a:ln/>
        </p:spPr>
      </p:sp>
      <p:sp>
        <p:nvSpPr>
          <p:cNvPr id="12" name="Shape 8"/>
          <p:cNvSpPr/>
          <p:nvPr/>
        </p:nvSpPr>
        <p:spPr>
          <a:xfrm>
            <a:off x="6217920" y="1417320"/>
            <a:ext cx="91440" cy="640080"/>
          </a:xfrm>
          <a:prstGeom prst="rect">
            <a:avLst/>
          </a:prstGeom>
          <a:solidFill>
            <a:srgbClr val="00838F"/>
          </a:solidFill>
          <a:ln/>
        </p:spPr>
      </p:sp>
      <p:sp>
        <p:nvSpPr>
          <p:cNvPr id="13" name="Shape 9"/>
          <p:cNvSpPr/>
          <p:nvPr/>
        </p:nvSpPr>
        <p:spPr>
          <a:xfrm>
            <a:off x="6492240" y="1554480"/>
            <a:ext cx="365760" cy="365760"/>
          </a:xfrm>
          <a:prstGeom prst="ellipse">
            <a:avLst/>
          </a:prstGeom>
          <a:solidFill>
            <a:srgbClr val="0B2A4A"/>
          </a:solidFill>
          <a:ln/>
        </p:spPr>
      </p:sp>
      <p:sp>
        <p:nvSpPr>
          <p:cNvPr id="14" name="Text 10"/>
          <p:cNvSpPr/>
          <p:nvPr/>
        </p:nvSpPr>
        <p:spPr>
          <a:xfrm>
            <a:off x="6492240" y="15544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5" name="Text 11"/>
          <p:cNvSpPr/>
          <p:nvPr/>
        </p:nvSpPr>
        <p:spPr>
          <a:xfrm>
            <a:off x="6995160" y="141732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Internship Objectives</a:t>
            </a:r>
            <a:endParaRPr lang="en-US" sz="1400" dirty="0"/>
          </a:p>
        </p:txBody>
      </p:sp>
      <p:sp>
        <p:nvSpPr>
          <p:cNvPr id="16" name="Shape 12"/>
          <p:cNvSpPr/>
          <p:nvPr/>
        </p:nvSpPr>
        <p:spPr>
          <a:xfrm>
            <a:off x="822960" y="2194560"/>
            <a:ext cx="5120640" cy="640080"/>
          </a:xfrm>
          <a:prstGeom prst="rect">
            <a:avLst/>
          </a:prstGeom>
          <a:solidFill>
            <a:srgbClr val="F4F7FB"/>
          </a:solidFill>
          <a:ln/>
        </p:spPr>
      </p:sp>
      <p:sp>
        <p:nvSpPr>
          <p:cNvPr id="17" name="Shape 13"/>
          <p:cNvSpPr/>
          <p:nvPr/>
        </p:nvSpPr>
        <p:spPr>
          <a:xfrm>
            <a:off x="822960" y="2194560"/>
            <a:ext cx="91440" cy="640080"/>
          </a:xfrm>
          <a:prstGeom prst="rect">
            <a:avLst/>
          </a:prstGeom>
          <a:solidFill>
            <a:srgbClr val="FFA000"/>
          </a:solidFill>
          <a:ln/>
        </p:spPr>
      </p:sp>
      <p:sp>
        <p:nvSpPr>
          <p:cNvPr id="18" name="Shape 14"/>
          <p:cNvSpPr/>
          <p:nvPr/>
        </p:nvSpPr>
        <p:spPr>
          <a:xfrm>
            <a:off x="1097280" y="2331720"/>
            <a:ext cx="365760" cy="365760"/>
          </a:xfrm>
          <a:prstGeom prst="ellipse">
            <a:avLst/>
          </a:prstGeom>
          <a:solidFill>
            <a:srgbClr val="0B2A4A"/>
          </a:solidFill>
          <a:ln/>
        </p:spPr>
      </p:sp>
      <p:sp>
        <p:nvSpPr>
          <p:cNvPr id="19" name="Text 15"/>
          <p:cNvSpPr/>
          <p:nvPr/>
        </p:nvSpPr>
        <p:spPr>
          <a:xfrm>
            <a:off x="1097280" y="2331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0" name="Text 16"/>
          <p:cNvSpPr/>
          <p:nvPr/>
        </p:nvSpPr>
        <p:spPr>
          <a:xfrm>
            <a:off x="1600200" y="219456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Modules Completed</a:t>
            </a:r>
            <a:endParaRPr lang="en-US" sz="1400" dirty="0"/>
          </a:p>
        </p:txBody>
      </p:sp>
      <p:sp>
        <p:nvSpPr>
          <p:cNvPr id="21" name="Shape 17"/>
          <p:cNvSpPr/>
          <p:nvPr/>
        </p:nvSpPr>
        <p:spPr>
          <a:xfrm>
            <a:off x="6217920" y="2194560"/>
            <a:ext cx="5120640" cy="640080"/>
          </a:xfrm>
          <a:prstGeom prst="rect">
            <a:avLst/>
          </a:prstGeom>
          <a:solidFill>
            <a:srgbClr val="F4F7FB"/>
          </a:solidFill>
          <a:ln/>
        </p:spPr>
      </p:sp>
      <p:sp>
        <p:nvSpPr>
          <p:cNvPr id="22" name="Shape 18"/>
          <p:cNvSpPr/>
          <p:nvPr/>
        </p:nvSpPr>
        <p:spPr>
          <a:xfrm>
            <a:off x="6217920" y="2194560"/>
            <a:ext cx="91440" cy="640080"/>
          </a:xfrm>
          <a:prstGeom prst="rect">
            <a:avLst/>
          </a:prstGeom>
          <a:solidFill>
            <a:srgbClr val="1565C0"/>
          </a:solidFill>
          <a:ln/>
        </p:spPr>
      </p:sp>
      <p:sp>
        <p:nvSpPr>
          <p:cNvPr id="23" name="Shape 19"/>
          <p:cNvSpPr/>
          <p:nvPr/>
        </p:nvSpPr>
        <p:spPr>
          <a:xfrm>
            <a:off x="6492240" y="2331720"/>
            <a:ext cx="365760" cy="365760"/>
          </a:xfrm>
          <a:prstGeom prst="ellipse">
            <a:avLst/>
          </a:prstGeom>
          <a:solidFill>
            <a:srgbClr val="0B2A4A"/>
          </a:solidFill>
          <a:ln/>
        </p:spPr>
      </p:sp>
      <p:sp>
        <p:nvSpPr>
          <p:cNvPr id="24" name="Text 20"/>
          <p:cNvSpPr/>
          <p:nvPr/>
        </p:nvSpPr>
        <p:spPr>
          <a:xfrm>
            <a:off x="6492240" y="2331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5" name="Text 21"/>
          <p:cNvSpPr/>
          <p:nvPr/>
        </p:nvSpPr>
        <p:spPr>
          <a:xfrm>
            <a:off x="6995160" y="219456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Key Concepts Learned</a:t>
            </a:r>
            <a:endParaRPr lang="en-US" sz="1400" dirty="0"/>
          </a:p>
        </p:txBody>
      </p:sp>
      <p:sp>
        <p:nvSpPr>
          <p:cNvPr id="26" name="Shape 22"/>
          <p:cNvSpPr/>
          <p:nvPr/>
        </p:nvSpPr>
        <p:spPr>
          <a:xfrm>
            <a:off x="822960" y="2971800"/>
            <a:ext cx="5120640" cy="640080"/>
          </a:xfrm>
          <a:prstGeom prst="rect">
            <a:avLst/>
          </a:prstGeom>
          <a:solidFill>
            <a:srgbClr val="F4F7FB"/>
          </a:solidFill>
          <a:ln/>
        </p:spPr>
      </p:sp>
      <p:sp>
        <p:nvSpPr>
          <p:cNvPr id="27" name="Shape 23"/>
          <p:cNvSpPr/>
          <p:nvPr/>
        </p:nvSpPr>
        <p:spPr>
          <a:xfrm>
            <a:off x="822960" y="2971800"/>
            <a:ext cx="91440" cy="640080"/>
          </a:xfrm>
          <a:prstGeom prst="rect">
            <a:avLst/>
          </a:prstGeom>
          <a:solidFill>
            <a:srgbClr val="00838F"/>
          </a:solidFill>
          <a:ln/>
        </p:spPr>
      </p:sp>
      <p:sp>
        <p:nvSpPr>
          <p:cNvPr id="28" name="Shape 24"/>
          <p:cNvSpPr/>
          <p:nvPr/>
        </p:nvSpPr>
        <p:spPr>
          <a:xfrm>
            <a:off x="1097280" y="3108960"/>
            <a:ext cx="365760" cy="365760"/>
          </a:xfrm>
          <a:prstGeom prst="ellipse">
            <a:avLst/>
          </a:prstGeom>
          <a:solidFill>
            <a:srgbClr val="0B2A4A"/>
          </a:solidFill>
          <a:ln/>
        </p:spPr>
      </p:sp>
      <p:sp>
        <p:nvSpPr>
          <p:cNvPr id="29" name="Text 25"/>
          <p:cNvSpPr/>
          <p:nvPr/>
        </p:nvSpPr>
        <p:spPr>
          <a:xfrm>
            <a:off x="1097280" y="31089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0" name="Text 26"/>
          <p:cNvSpPr/>
          <p:nvPr/>
        </p:nvSpPr>
        <p:spPr>
          <a:xfrm>
            <a:off x="1600200" y="297180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Practical Applications</a:t>
            </a:r>
            <a:endParaRPr lang="en-US" sz="1400" dirty="0"/>
          </a:p>
        </p:txBody>
      </p:sp>
      <p:sp>
        <p:nvSpPr>
          <p:cNvPr id="31" name="Shape 27"/>
          <p:cNvSpPr/>
          <p:nvPr/>
        </p:nvSpPr>
        <p:spPr>
          <a:xfrm>
            <a:off x="6217920" y="2971800"/>
            <a:ext cx="5120640" cy="640080"/>
          </a:xfrm>
          <a:prstGeom prst="rect">
            <a:avLst/>
          </a:prstGeom>
          <a:solidFill>
            <a:srgbClr val="F4F7FB"/>
          </a:solidFill>
          <a:ln/>
        </p:spPr>
      </p:sp>
      <p:sp>
        <p:nvSpPr>
          <p:cNvPr id="32" name="Shape 28"/>
          <p:cNvSpPr/>
          <p:nvPr/>
        </p:nvSpPr>
        <p:spPr>
          <a:xfrm>
            <a:off x="6217920" y="2971800"/>
            <a:ext cx="91440" cy="640080"/>
          </a:xfrm>
          <a:prstGeom prst="rect">
            <a:avLst/>
          </a:prstGeom>
          <a:solidFill>
            <a:srgbClr val="FFA000"/>
          </a:solidFill>
          <a:ln/>
        </p:spPr>
      </p:sp>
      <p:sp>
        <p:nvSpPr>
          <p:cNvPr id="33" name="Shape 29"/>
          <p:cNvSpPr/>
          <p:nvPr/>
        </p:nvSpPr>
        <p:spPr>
          <a:xfrm>
            <a:off x="6492240" y="3108960"/>
            <a:ext cx="365760" cy="365760"/>
          </a:xfrm>
          <a:prstGeom prst="ellipse">
            <a:avLst/>
          </a:prstGeom>
          <a:solidFill>
            <a:srgbClr val="0B2A4A"/>
          </a:solidFill>
          <a:ln/>
        </p:spPr>
      </p:sp>
      <p:sp>
        <p:nvSpPr>
          <p:cNvPr id="34" name="Text 30"/>
          <p:cNvSpPr/>
          <p:nvPr/>
        </p:nvSpPr>
        <p:spPr>
          <a:xfrm>
            <a:off x="6492240" y="31089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5" name="Text 31"/>
          <p:cNvSpPr/>
          <p:nvPr/>
        </p:nvSpPr>
        <p:spPr>
          <a:xfrm>
            <a:off x="6995160" y="297180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Internship Activities</a:t>
            </a:r>
            <a:endParaRPr lang="en-US" sz="1400" dirty="0"/>
          </a:p>
        </p:txBody>
      </p:sp>
      <p:sp>
        <p:nvSpPr>
          <p:cNvPr id="36" name="Shape 32"/>
          <p:cNvSpPr/>
          <p:nvPr/>
        </p:nvSpPr>
        <p:spPr>
          <a:xfrm>
            <a:off x="822960" y="3749040"/>
            <a:ext cx="5120640" cy="640080"/>
          </a:xfrm>
          <a:prstGeom prst="rect">
            <a:avLst/>
          </a:prstGeom>
          <a:solidFill>
            <a:srgbClr val="F4F7FB"/>
          </a:solidFill>
          <a:ln/>
        </p:spPr>
      </p:sp>
      <p:sp>
        <p:nvSpPr>
          <p:cNvPr id="37" name="Shape 33"/>
          <p:cNvSpPr/>
          <p:nvPr/>
        </p:nvSpPr>
        <p:spPr>
          <a:xfrm>
            <a:off x="822960" y="3749040"/>
            <a:ext cx="91440" cy="640080"/>
          </a:xfrm>
          <a:prstGeom prst="rect">
            <a:avLst/>
          </a:prstGeom>
          <a:solidFill>
            <a:srgbClr val="1565C0"/>
          </a:solidFill>
          <a:ln/>
        </p:spPr>
      </p:sp>
      <p:sp>
        <p:nvSpPr>
          <p:cNvPr id="38" name="Shape 34"/>
          <p:cNvSpPr/>
          <p:nvPr/>
        </p:nvSpPr>
        <p:spPr>
          <a:xfrm>
            <a:off x="1097280" y="3886200"/>
            <a:ext cx="365760" cy="365760"/>
          </a:xfrm>
          <a:prstGeom prst="ellipse">
            <a:avLst/>
          </a:prstGeom>
          <a:solidFill>
            <a:srgbClr val="0B2A4A"/>
          </a:solidFill>
          <a:ln/>
        </p:spPr>
      </p:sp>
      <p:sp>
        <p:nvSpPr>
          <p:cNvPr id="39" name="Text 35"/>
          <p:cNvSpPr/>
          <p:nvPr/>
        </p:nvSpPr>
        <p:spPr>
          <a:xfrm>
            <a:off x="1097280" y="38862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40" name="Text 36"/>
          <p:cNvSpPr/>
          <p:nvPr/>
        </p:nvSpPr>
        <p:spPr>
          <a:xfrm>
            <a:off x="1600200" y="374904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Training Undergone</a:t>
            </a:r>
            <a:endParaRPr lang="en-US" sz="1400" dirty="0"/>
          </a:p>
        </p:txBody>
      </p:sp>
      <p:sp>
        <p:nvSpPr>
          <p:cNvPr id="41" name="Shape 37"/>
          <p:cNvSpPr/>
          <p:nvPr/>
        </p:nvSpPr>
        <p:spPr>
          <a:xfrm>
            <a:off x="6217920" y="3749040"/>
            <a:ext cx="5120640" cy="640080"/>
          </a:xfrm>
          <a:prstGeom prst="rect">
            <a:avLst/>
          </a:prstGeom>
          <a:solidFill>
            <a:srgbClr val="F4F7FB"/>
          </a:solidFill>
          <a:ln/>
        </p:spPr>
      </p:sp>
      <p:sp>
        <p:nvSpPr>
          <p:cNvPr id="42" name="Shape 38"/>
          <p:cNvSpPr/>
          <p:nvPr/>
        </p:nvSpPr>
        <p:spPr>
          <a:xfrm>
            <a:off x="6217920" y="3749040"/>
            <a:ext cx="91440" cy="640080"/>
          </a:xfrm>
          <a:prstGeom prst="rect">
            <a:avLst/>
          </a:prstGeom>
          <a:solidFill>
            <a:srgbClr val="00838F"/>
          </a:solidFill>
          <a:ln/>
        </p:spPr>
      </p:sp>
      <p:sp>
        <p:nvSpPr>
          <p:cNvPr id="43" name="Shape 39"/>
          <p:cNvSpPr/>
          <p:nvPr/>
        </p:nvSpPr>
        <p:spPr>
          <a:xfrm>
            <a:off x="6492240" y="3886200"/>
            <a:ext cx="365760" cy="365760"/>
          </a:xfrm>
          <a:prstGeom prst="ellipse">
            <a:avLst/>
          </a:prstGeom>
          <a:solidFill>
            <a:srgbClr val="0B2A4A"/>
          </a:solidFill>
          <a:ln/>
        </p:spPr>
      </p:sp>
      <p:sp>
        <p:nvSpPr>
          <p:cNvPr id="44" name="Text 40"/>
          <p:cNvSpPr/>
          <p:nvPr/>
        </p:nvSpPr>
        <p:spPr>
          <a:xfrm>
            <a:off x="6492240" y="38862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45" name="Text 41"/>
          <p:cNvSpPr/>
          <p:nvPr/>
        </p:nvSpPr>
        <p:spPr>
          <a:xfrm>
            <a:off x="6995160" y="374904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Skills, Tools &amp; Technologies</a:t>
            </a:r>
            <a:endParaRPr lang="en-US" sz="1400" dirty="0"/>
          </a:p>
        </p:txBody>
      </p:sp>
      <p:sp>
        <p:nvSpPr>
          <p:cNvPr id="46" name="Shape 42"/>
          <p:cNvSpPr/>
          <p:nvPr/>
        </p:nvSpPr>
        <p:spPr>
          <a:xfrm>
            <a:off x="822960" y="4526280"/>
            <a:ext cx="5120640" cy="640080"/>
          </a:xfrm>
          <a:prstGeom prst="rect">
            <a:avLst/>
          </a:prstGeom>
          <a:solidFill>
            <a:srgbClr val="F4F7FB"/>
          </a:solidFill>
          <a:ln/>
        </p:spPr>
      </p:sp>
      <p:sp>
        <p:nvSpPr>
          <p:cNvPr id="47" name="Shape 43"/>
          <p:cNvSpPr/>
          <p:nvPr/>
        </p:nvSpPr>
        <p:spPr>
          <a:xfrm>
            <a:off x="822960" y="4526280"/>
            <a:ext cx="91440" cy="640080"/>
          </a:xfrm>
          <a:prstGeom prst="rect">
            <a:avLst/>
          </a:prstGeom>
          <a:solidFill>
            <a:srgbClr val="FFA000"/>
          </a:solidFill>
          <a:ln/>
        </p:spPr>
      </p:sp>
      <p:sp>
        <p:nvSpPr>
          <p:cNvPr id="48" name="Shape 44"/>
          <p:cNvSpPr/>
          <p:nvPr/>
        </p:nvSpPr>
        <p:spPr>
          <a:xfrm>
            <a:off x="1097280" y="4663440"/>
            <a:ext cx="365760" cy="365760"/>
          </a:xfrm>
          <a:prstGeom prst="ellipse">
            <a:avLst/>
          </a:prstGeom>
          <a:solidFill>
            <a:srgbClr val="0B2A4A"/>
          </a:solidFill>
          <a:ln/>
        </p:spPr>
      </p:sp>
      <p:sp>
        <p:nvSpPr>
          <p:cNvPr id="49" name="Text 45"/>
          <p:cNvSpPr/>
          <p:nvPr/>
        </p:nvSpPr>
        <p:spPr>
          <a:xfrm>
            <a:off x="1097280" y="46634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50" name="Text 46"/>
          <p:cNvSpPr/>
          <p:nvPr/>
        </p:nvSpPr>
        <p:spPr>
          <a:xfrm>
            <a:off x="1600200" y="452628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Challenges Faced and Solutions</a:t>
            </a:r>
            <a:endParaRPr lang="en-US" sz="1400" dirty="0"/>
          </a:p>
        </p:txBody>
      </p:sp>
      <p:sp>
        <p:nvSpPr>
          <p:cNvPr id="51" name="Shape 47"/>
          <p:cNvSpPr/>
          <p:nvPr/>
        </p:nvSpPr>
        <p:spPr>
          <a:xfrm>
            <a:off x="6217920" y="4526280"/>
            <a:ext cx="5120640" cy="640080"/>
          </a:xfrm>
          <a:prstGeom prst="rect">
            <a:avLst/>
          </a:prstGeom>
          <a:solidFill>
            <a:srgbClr val="F4F7FB"/>
          </a:solidFill>
          <a:ln/>
        </p:spPr>
      </p:sp>
      <p:sp>
        <p:nvSpPr>
          <p:cNvPr id="52" name="Shape 48"/>
          <p:cNvSpPr/>
          <p:nvPr/>
        </p:nvSpPr>
        <p:spPr>
          <a:xfrm>
            <a:off x="6217920" y="4526280"/>
            <a:ext cx="91440" cy="640080"/>
          </a:xfrm>
          <a:prstGeom prst="rect">
            <a:avLst/>
          </a:prstGeom>
          <a:solidFill>
            <a:srgbClr val="1565C0"/>
          </a:solidFill>
          <a:ln/>
        </p:spPr>
      </p:sp>
      <p:sp>
        <p:nvSpPr>
          <p:cNvPr id="53" name="Shape 49"/>
          <p:cNvSpPr/>
          <p:nvPr/>
        </p:nvSpPr>
        <p:spPr>
          <a:xfrm>
            <a:off x="6492240" y="4663440"/>
            <a:ext cx="365760" cy="365760"/>
          </a:xfrm>
          <a:prstGeom prst="ellipse">
            <a:avLst/>
          </a:prstGeom>
          <a:solidFill>
            <a:srgbClr val="0B2A4A"/>
          </a:solidFill>
          <a:ln/>
        </p:spPr>
      </p:sp>
      <p:sp>
        <p:nvSpPr>
          <p:cNvPr id="54" name="Text 50"/>
          <p:cNvSpPr/>
          <p:nvPr/>
        </p:nvSpPr>
        <p:spPr>
          <a:xfrm>
            <a:off x="6492240" y="46634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5" name="Text 51"/>
          <p:cNvSpPr/>
          <p:nvPr/>
        </p:nvSpPr>
        <p:spPr>
          <a:xfrm>
            <a:off x="6995160" y="452628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Project Outcome &amp; Achievements</a:t>
            </a:r>
            <a:endParaRPr lang="en-US" sz="1400" dirty="0"/>
          </a:p>
        </p:txBody>
      </p:sp>
      <p:sp>
        <p:nvSpPr>
          <p:cNvPr id="56" name="Shape 52"/>
          <p:cNvSpPr/>
          <p:nvPr/>
        </p:nvSpPr>
        <p:spPr>
          <a:xfrm>
            <a:off x="822960" y="5303520"/>
            <a:ext cx="5120640" cy="640080"/>
          </a:xfrm>
          <a:prstGeom prst="rect">
            <a:avLst/>
          </a:prstGeom>
          <a:solidFill>
            <a:srgbClr val="F4F7FB"/>
          </a:solidFill>
          <a:ln/>
        </p:spPr>
      </p:sp>
      <p:sp>
        <p:nvSpPr>
          <p:cNvPr id="57" name="Shape 53"/>
          <p:cNvSpPr/>
          <p:nvPr/>
        </p:nvSpPr>
        <p:spPr>
          <a:xfrm>
            <a:off x="822960" y="5303520"/>
            <a:ext cx="91440" cy="640080"/>
          </a:xfrm>
          <a:prstGeom prst="rect">
            <a:avLst/>
          </a:prstGeom>
          <a:solidFill>
            <a:srgbClr val="00838F"/>
          </a:solidFill>
          <a:ln/>
        </p:spPr>
      </p:sp>
      <p:sp>
        <p:nvSpPr>
          <p:cNvPr id="58" name="Shape 54"/>
          <p:cNvSpPr/>
          <p:nvPr/>
        </p:nvSpPr>
        <p:spPr>
          <a:xfrm>
            <a:off x="1097280" y="5440680"/>
            <a:ext cx="365760" cy="365760"/>
          </a:xfrm>
          <a:prstGeom prst="ellipse">
            <a:avLst/>
          </a:prstGeom>
          <a:solidFill>
            <a:srgbClr val="0B2A4A"/>
          </a:solidFill>
          <a:ln/>
        </p:spPr>
      </p:sp>
      <p:sp>
        <p:nvSpPr>
          <p:cNvPr id="59" name="Text 55"/>
          <p:cNvSpPr/>
          <p:nvPr/>
        </p:nvSpPr>
        <p:spPr>
          <a:xfrm>
            <a:off x="1097280" y="54406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60" name="Text 56"/>
          <p:cNvSpPr/>
          <p:nvPr/>
        </p:nvSpPr>
        <p:spPr>
          <a:xfrm>
            <a:off x="1600200" y="530352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Learning Experience</a:t>
            </a:r>
            <a:endParaRPr lang="en-US" sz="1400" dirty="0"/>
          </a:p>
        </p:txBody>
      </p:sp>
      <p:sp>
        <p:nvSpPr>
          <p:cNvPr id="61" name="Shape 57"/>
          <p:cNvSpPr/>
          <p:nvPr/>
        </p:nvSpPr>
        <p:spPr>
          <a:xfrm>
            <a:off x="6217920" y="5303520"/>
            <a:ext cx="5120640" cy="640080"/>
          </a:xfrm>
          <a:prstGeom prst="rect">
            <a:avLst/>
          </a:prstGeom>
          <a:solidFill>
            <a:srgbClr val="F4F7FB"/>
          </a:solidFill>
          <a:ln/>
        </p:spPr>
      </p:sp>
      <p:sp>
        <p:nvSpPr>
          <p:cNvPr id="62" name="Shape 58"/>
          <p:cNvSpPr/>
          <p:nvPr/>
        </p:nvSpPr>
        <p:spPr>
          <a:xfrm>
            <a:off x="6217920" y="5303520"/>
            <a:ext cx="91440" cy="640080"/>
          </a:xfrm>
          <a:prstGeom prst="rect">
            <a:avLst/>
          </a:prstGeom>
          <a:solidFill>
            <a:srgbClr val="FFA000"/>
          </a:solidFill>
          <a:ln/>
        </p:spPr>
      </p:sp>
      <p:sp>
        <p:nvSpPr>
          <p:cNvPr id="63" name="Shape 59"/>
          <p:cNvSpPr/>
          <p:nvPr/>
        </p:nvSpPr>
        <p:spPr>
          <a:xfrm>
            <a:off x="6492240" y="5440680"/>
            <a:ext cx="365760" cy="365760"/>
          </a:xfrm>
          <a:prstGeom prst="ellipse">
            <a:avLst/>
          </a:prstGeom>
          <a:solidFill>
            <a:srgbClr val="0B2A4A"/>
          </a:solidFill>
          <a:ln/>
        </p:spPr>
      </p:sp>
      <p:sp>
        <p:nvSpPr>
          <p:cNvPr id="64" name="Text 60"/>
          <p:cNvSpPr/>
          <p:nvPr/>
        </p:nvSpPr>
        <p:spPr>
          <a:xfrm>
            <a:off x="6492240" y="54406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65" name="Text 61"/>
          <p:cNvSpPr/>
          <p:nvPr/>
        </p:nvSpPr>
        <p:spPr>
          <a:xfrm>
            <a:off x="6995160" y="5303520"/>
            <a:ext cx="425196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Conclusion &amp; References</a:t>
            </a:r>
            <a:endParaRPr lang="en-US" sz="1400" dirty="0"/>
          </a:p>
        </p:txBody>
      </p:sp>
      <p:sp>
        <p:nvSpPr>
          <p:cNvPr id="66" name="Text 62"/>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67" name="Text 63"/>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Introduction</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Text 2"/>
          <p:cNvSpPr/>
          <p:nvPr/>
        </p:nvSpPr>
        <p:spPr>
          <a:xfrm>
            <a:off x="640080" y="1371600"/>
            <a:ext cx="6400800" cy="2103120"/>
          </a:xfrm>
          <a:prstGeom prst="rect">
            <a:avLst/>
          </a:prstGeom>
          <a:noFill/>
          <a:ln/>
        </p:spPr>
        <p:txBody>
          <a:bodyPr wrap="square" lIns="0" tIns="0" rIns="0" bIns="0" rtlCol="0" anchor="ctr"/>
          <a:lstStyle/>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TranspoLink is a web-based platform designed for municipalities, traffic departments, and public transport agencies to manage urban mobility, traffic flows, and public transport operations. Citizens access traffic updates, transport schedules, and incident alerts, while administrators monitor patterns, manage incidents, and ensure compliance with transport policies.</a:t>
            </a:r>
            <a:endParaRPr lang="en-US" sz="1400" dirty="0"/>
          </a:p>
        </p:txBody>
      </p:sp>
      <p:sp>
        <p:nvSpPr>
          <p:cNvPr id="7" name="Text 3"/>
          <p:cNvSpPr/>
          <p:nvPr/>
        </p:nvSpPr>
        <p:spPr>
          <a:xfrm>
            <a:off x="640080" y="3611880"/>
            <a:ext cx="6400800" cy="32004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The system supports workflows for:</a:t>
            </a:r>
            <a:endParaRPr lang="en-US" sz="1400" dirty="0"/>
          </a:p>
        </p:txBody>
      </p:sp>
      <p:sp>
        <p:nvSpPr>
          <p:cNvPr id="8" name="Text 4"/>
          <p:cNvSpPr/>
          <p:nvPr/>
        </p:nvSpPr>
        <p:spPr>
          <a:xfrm>
            <a:off x="822960" y="3931920"/>
            <a:ext cx="6217920" cy="210312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Traffic monitoring &amp; incident reporting</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Public transport scheduling &amp; fleet operations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Compliance tracking &amp; policy enforcement</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Analytics, audit trails &amp; performance metrics</a:t>
            </a:r>
            <a:endParaRPr lang="en-US" sz="1300" dirty="0"/>
          </a:p>
        </p:txBody>
      </p:sp>
      <p:sp>
        <p:nvSpPr>
          <p:cNvPr id="9" name="Shape 5"/>
          <p:cNvSpPr/>
          <p:nvPr/>
        </p:nvSpPr>
        <p:spPr>
          <a:xfrm>
            <a:off x="7498080" y="1371600"/>
            <a:ext cx="4114800" cy="4846320"/>
          </a:xfrm>
          <a:prstGeom prst="rect">
            <a:avLst/>
          </a:prstGeom>
          <a:solidFill>
            <a:srgbClr val="0B2A4A"/>
          </a:solidFill>
          <a:ln/>
        </p:spPr>
      </p:sp>
      <p:sp>
        <p:nvSpPr>
          <p:cNvPr id="10" name="Text 6"/>
          <p:cNvSpPr/>
          <p:nvPr/>
        </p:nvSpPr>
        <p:spPr>
          <a:xfrm>
            <a:off x="7680960" y="1554480"/>
            <a:ext cx="3749040" cy="320040"/>
          </a:xfrm>
          <a:prstGeom prst="rect">
            <a:avLst/>
          </a:prstGeom>
          <a:noFill/>
          <a:ln/>
        </p:spPr>
        <p:txBody>
          <a:bodyPr wrap="square" lIns="0" tIns="0" rIns="0" bIns="0" rtlCol="0" anchor="ctr"/>
          <a:lstStyle/>
          <a:p>
            <a:pPr indent="0" marL="0">
              <a:buNone/>
            </a:pPr>
            <a:r>
              <a:rPr lang="en-US" sz="1100" b="1" spc="400" kern="0" dirty="0">
                <a:solidFill>
                  <a:srgbClr val="FFA000"/>
                </a:solidFill>
                <a:latin typeface="Calibri" pitchFamily="34" charset="0"/>
                <a:ea typeface="Calibri" pitchFamily="34" charset="-122"/>
                <a:cs typeface="Calibri" pitchFamily="34" charset="-120"/>
              </a:rPr>
              <a:t>AT A GLANCE</a:t>
            </a:r>
            <a:endParaRPr lang="en-US" sz="1100" dirty="0"/>
          </a:p>
        </p:txBody>
      </p:sp>
      <p:sp>
        <p:nvSpPr>
          <p:cNvPr id="11" name="Text 7"/>
          <p:cNvSpPr/>
          <p:nvPr/>
        </p:nvSpPr>
        <p:spPr>
          <a:xfrm>
            <a:off x="7680960" y="2011680"/>
            <a:ext cx="1828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5</a:t>
            </a:r>
            <a:endParaRPr lang="en-US" sz="3200" dirty="0"/>
          </a:p>
        </p:txBody>
      </p:sp>
      <p:sp>
        <p:nvSpPr>
          <p:cNvPr id="12" name="Text 8"/>
          <p:cNvSpPr/>
          <p:nvPr/>
        </p:nvSpPr>
        <p:spPr>
          <a:xfrm>
            <a:off x="9509760" y="2057400"/>
            <a:ext cx="201168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User Roles</a:t>
            </a:r>
            <a:endParaRPr lang="en-US" sz="1200" dirty="0"/>
          </a:p>
        </p:txBody>
      </p:sp>
      <p:sp>
        <p:nvSpPr>
          <p:cNvPr id="13" name="Text 9"/>
          <p:cNvSpPr/>
          <p:nvPr/>
        </p:nvSpPr>
        <p:spPr>
          <a:xfrm>
            <a:off x="7680960" y="2788920"/>
            <a:ext cx="1828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7</a:t>
            </a:r>
            <a:endParaRPr lang="en-US" sz="3200" dirty="0"/>
          </a:p>
        </p:txBody>
      </p:sp>
      <p:sp>
        <p:nvSpPr>
          <p:cNvPr id="14" name="Text 10"/>
          <p:cNvSpPr/>
          <p:nvPr/>
        </p:nvSpPr>
        <p:spPr>
          <a:xfrm>
            <a:off x="9509760" y="2834640"/>
            <a:ext cx="201168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Core Modules</a:t>
            </a:r>
            <a:endParaRPr lang="en-US" sz="1200" dirty="0"/>
          </a:p>
        </p:txBody>
      </p:sp>
      <p:sp>
        <p:nvSpPr>
          <p:cNvPr id="15" name="Text 11"/>
          <p:cNvSpPr/>
          <p:nvPr/>
        </p:nvSpPr>
        <p:spPr>
          <a:xfrm>
            <a:off x="7680960" y="3566160"/>
            <a:ext cx="1828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13</a:t>
            </a:r>
            <a:endParaRPr lang="en-US" sz="3200" dirty="0"/>
          </a:p>
        </p:txBody>
      </p:sp>
      <p:sp>
        <p:nvSpPr>
          <p:cNvPr id="16" name="Text 12"/>
          <p:cNvSpPr/>
          <p:nvPr/>
        </p:nvSpPr>
        <p:spPr>
          <a:xfrm>
            <a:off x="9509760" y="3611880"/>
            <a:ext cx="201168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Database Entities</a:t>
            </a:r>
            <a:endParaRPr lang="en-US" sz="1200" dirty="0"/>
          </a:p>
        </p:txBody>
      </p:sp>
      <p:sp>
        <p:nvSpPr>
          <p:cNvPr id="17" name="Text 13"/>
          <p:cNvSpPr/>
          <p:nvPr/>
        </p:nvSpPr>
        <p:spPr>
          <a:xfrm>
            <a:off x="7680960" y="4343400"/>
            <a:ext cx="1828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100K</a:t>
            </a:r>
            <a:endParaRPr lang="en-US" sz="3200" dirty="0"/>
          </a:p>
        </p:txBody>
      </p:sp>
      <p:sp>
        <p:nvSpPr>
          <p:cNvPr id="18" name="Text 14"/>
          <p:cNvSpPr/>
          <p:nvPr/>
        </p:nvSpPr>
        <p:spPr>
          <a:xfrm>
            <a:off x="9509760" y="4389120"/>
            <a:ext cx="201168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Concurrent Users</a:t>
            </a:r>
            <a:endParaRPr lang="en-US" sz="1200" dirty="0"/>
          </a:p>
        </p:txBody>
      </p:sp>
      <p:sp>
        <p:nvSpPr>
          <p:cNvPr id="19" name="Text 15"/>
          <p:cNvSpPr/>
          <p:nvPr/>
        </p:nvSpPr>
        <p:spPr>
          <a:xfrm>
            <a:off x="7680960" y="5120640"/>
            <a:ext cx="1828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99.9%</a:t>
            </a:r>
            <a:endParaRPr lang="en-US" sz="3200" dirty="0"/>
          </a:p>
        </p:txBody>
      </p:sp>
      <p:sp>
        <p:nvSpPr>
          <p:cNvPr id="20" name="Text 16"/>
          <p:cNvSpPr/>
          <p:nvPr/>
        </p:nvSpPr>
        <p:spPr>
          <a:xfrm>
            <a:off x="9509760" y="5166360"/>
            <a:ext cx="201168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Target Uptime</a:t>
            </a:r>
            <a:endParaRPr lang="en-US" sz="1200" dirty="0"/>
          </a:p>
        </p:txBody>
      </p:sp>
      <p:sp>
        <p:nvSpPr>
          <p:cNvPr id="21" name="Text 1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22" name="Text 18"/>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Internship Objectives</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Shape 2"/>
          <p:cNvSpPr/>
          <p:nvPr/>
        </p:nvSpPr>
        <p:spPr>
          <a:xfrm>
            <a:off x="365760" y="1417320"/>
            <a:ext cx="3657600" cy="2194560"/>
          </a:xfrm>
          <a:prstGeom prst="rect">
            <a:avLst/>
          </a:prstGeom>
          <a:solidFill>
            <a:srgbClr val="F4F7FB"/>
          </a:solidFill>
          <a:ln w="6350">
            <a:solidFill>
              <a:srgbClr val="E2E8F0"/>
            </a:solidFill>
            <a:prstDash val="solid"/>
          </a:ln>
        </p:spPr>
      </p:sp>
      <p:sp>
        <p:nvSpPr>
          <p:cNvPr id="7" name="Shape 3"/>
          <p:cNvSpPr/>
          <p:nvPr/>
        </p:nvSpPr>
        <p:spPr>
          <a:xfrm>
            <a:off x="365760" y="1417320"/>
            <a:ext cx="3657600" cy="73152"/>
          </a:xfrm>
          <a:prstGeom prst="rect">
            <a:avLst/>
          </a:prstGeom>
          <a:solidFill>
            <a:srgbClr val="1565C0"/>
          </a:solidFill>
          <a:ln/>
        </p:spPr>
      </p:sp>
      <p:sp>
        <p:nvSpPr>
          <p:cNvPr id="8" name="Shape 4"/>
          <p:cNvSpPr/>
          <p:nvPr/>
        </p:nvSpPr>
        <p:spPr>
          <a:xfrm>
            <a:off x="594360" y="1691640"/>
            <a:ext cx="502920" cy="502920"/>
          </a:xfrm>
          <a:prstGeom prst="ellipse">
            <a:avLst/>
          </a:prstGeom>
          <a:solidFill>
            <a:srgbClr val="0B2A4A"/>
          </a:solidFill>
          <a:ln/>
        </p:spPr>
      </p:sp>
      <p:sp>
        <p:nvSpPr>
          <p:cNvPr id="9" name="Text 5"/>
          <p:cNvSpPr/>
          <p:nvPr/>
        </p:nvSpPr>
        <p:spPr>
          <a:xfrm>
            <a:off x="594360" y="1691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0" name="Text 6"/>
          <p:cNvSpPr/>
          <p:nvPr/>
        </p:nvSpPr>
        <p:spPr>
          <a:xfrm>
            <a:off x="1234440" y="1691640"/>
            <a:ext cx="2651760" cy="50292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System Design</a:t>
            </a:r>
            <a:endParaRPr lang="en-US" sz="1500" dirty="0"/>
          </a:p>
        </p:txBody>
      </p:sp>
      <p:sp>
        <p:nvSpPr>
          <p:cNvPr id="11" name="Text 7"/>
          <p:cNvSpPr/>
          <p:nvPr/>
        </p:nvSpPr>
        <p:spPr>
          <a:xfrm>
            <a:off x="594360" y="2331720"/>
            <a:ext cx="3200400" cy="11430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Design a modular, microservices-based platform for urban transportation management.</a:t>
            </a:r>
            <a:endParaRPr lang="en-US" sz="1200" dirty="0"/>
          </a:p>
        </p:txBody>
      </p:sp>
      <p:sp>
        <p:nvSpPr>
          <p:cNvPr id="12" name="Shape 8"/>
          <p:cNvSpPr/>
          <p:nvPr/>
        </p:nvSpPr>
        <p:spPr>
          <a:xfrm>
            <a:off x="4251960" y="1417320"/>
            <a:ext cx="3657600" cy="2194560"/>
          </a:xfrm>
          <a:prstGeom prst="rect">
            <a:avLst/>
          </a:prstGeom>
          <a:solidFill>
            <a:srgbClr val="F4F7FB"/>
          </a:solidFill>
          <a:ln w="6350">
            <a:solidFill>
              <a:srgbClr val="E2E8F0"/>
            </a:solidFill>
            <a:prstDash val="solid"/>
          </a:ln>
        </p:spPr>
      </p:sp>
      <p:sp>
        <p:nvSpPr>
          <p:cNvPr id="13" name="Shape 9"/>
          <p:cNvSpPr/>
          <p:nvPr/>
        </p:nvSpPr>
        <p:spPr>
          <a:xfrm>
            <a:off x="4251960" y="1417320"/>
            <a:ext cx="3657600" cy="73152"/>
          </a:xfrm>
          <a:prstGeom prst="rect">
            <a:avLst/>
          </a:prstGeom>
          <a:solidFill>
            <a:srgbClr val="00838F"/>
          </a:solidFill>
          <a:ln/>
        </p:spPr>
      </p:sp>
      <p:sp>
        <p:nvSpPr>
          <p:cNvPr id="14" name="Shape 10"/>
          <p:cNvSpPr/>
          <p:nvPr/>
        </p:nvSpPr>
        <p:spPr>
          <a:xfrm>
            <a:off x="4480560" y="1691640"/>
            <a:ext cx="502920" cy="502920"/>
          </a:xfrm>
          <a:prstGeom prst="ellipse">
            <a:avLst/>
          </a:prstGeom>
          <a:solidFill>
            <a:srgbClr val="0B2A4A"/>
          </a:solidFill>
          <a:ln/>
        </p:spPr>
      </p:sp>
      <p:sp>
        <p:nvSpPr>
          <p:cNvPr id="15" name="Text 11"/>
          <p:cNvSpPr/>
          <p:nvPr/>
        </p:nvSpPr>
        <p:spPr>
          <a:xfrm>
            <a:off x="4480560" y="1691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6" name="Text 12"/>
          <p:cNvSpPr/>
          <p:nvPr/>
        </p:nvSpPr>
        <p:spPr>
          <a:xfrm>
            <a:off x="5120640" y="1691640"/>
            <a:ext cx="2651760" cy="50292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Full-Stack Development</a:t>
            </a:r>
            <a:endParaRPr lang="en-US" sz="1500" dirty="0"/>
          </a:p>
        </p:txBody>
      </p:sp>
      <p:sp>
        <p:nvSpPr>
          <p:cNvPr id="17" name="Text 13"/>
          <p:cNvSpPr/>
          <p:nvPr/>
        </p:nvSpPr>
        <p:spPr>
          <a:xfrm>
            <a:off x="4480560" y="2331720"/>
            <a:ext cx="3200400" cy="11430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Build responsive frontends (Angular/React) and REST API backends (Spring Boot/.NET Core).</a:t>
            </a:r>
            <a:endParaRPr lang="en-US" sz="1200" dirty="0"/>
          </a:p>
        </p:txBody>
      </p:sp>
      <p:sp>
        <p:nvSpPr>
          <p:cNvPr id="18" name="Shape 14"/>
          <p:cNvSpPr/>
          <p:nvPr/>
        </p:nvSpPr>
        <p:spPr>
          <a:xfrm>
            <a:off x="8138160" y="1417320"/>
            <a:ext cx="3657600" cy="2194560"/>
          </a:xfrm>
          <a:prstGeom prst="rect">
            <a:avLst/>
          </a:prstGeom>
          <a:solidFill>
            <a:srgbClr val="F4F7FB"/>
          </a:solidFill>
          <a:ln w="6350">
            <a:solidFill>
              <a:srgbClr val="E2E8F0"/>
            </a:solidFill>
            <a:prstDash val="solid"/>
          </a:ln>
        </p:spPr>
      </p:sp>
      <p:sp>
        <p:nvSpPr>
          <p:cNvPr id="19" name="Shape 15"/>
          <p:cNvSpPr/>
          <p:nvPr/>
        </p:nvSpPr>
        <p:spPr>
          <a:xfrm>
            <a:off x="8138160" y="1417320"/>
            <a:ext cx="3657600" cy="73152"/>
          </a:xfrm>
          <a:prstGeom prst="rect">
            <a:avLst/>
          </a:prstGeom>
          <a:solidFill>
            <a:srgbClr val="1565C0"/>
          </a:solidFill>
          <a:ln/>
        </p:spPr>
      </p:sp>
      <p:sp>
        <p:nvSpPr>
          <p:cNvPr id="20" name="Shape 16"/>
          <p:cNvSpPr/>
          <p:nvPr/>
        </p:nvSpPr>
        <p:spPr>
          <a:xfrm>
            <a:off x="8366760" y="1691640"/>
            <a:ext cx="502920" cy="502920"/>
          </a:xfrm>
          <a:prstGeom prst="ellipse">
            <a:avLst/>
          </a:prstGeom>
          <a:solidFill>
            <a:srgbClr val="0B2A4A"/>
          </a:solidFill>
          <a:ln/>
        </p:spPr>
      </p:sp>
      <p:sp>
        <p:nvSpPr>
          <p:cNvPr id="21" name="Text 17"/>
          <p:cNvSpPr/>
          <p:nvPr/>
        </p:nvSpPr>
        <p:spPr>
          <a:xfrm>
            <a:off x="8366760" y="1691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2" name="Text 18"/>
          <p:cNvSpPr/>
          <p:nvPr/>
        </p:nvSpPr>
        <p:spPr>
          <a:xfrm>
            <a:off x="9006840" y="1691640"/>
            <a:ext cx="2651760" cy="50292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Data Modelling</a:t>
            </a:r>
            <a:endParaRPr lang="en-US" sz="1500" dirty="0"/>
          </a:p>
        </p:txBody>
      </p:sp>
      <p:sp>
        <p:nvSpPr>
          <p:cNvPr id="23" name="Text 19"/>
          <p:cNvSpPr/>
          <p:nvPr/>
        </p:nvSpPr>
        <p:spPr>
          <a:xfrm>
            <a:off x="8366760" y="2331720"/>
            <a:ext cx="3200400" cy="11430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Develop a relational schema covering users, incidents, transport, compliance, and analytics.</a:t>
            </a:r>
            <a:endParaRPr lang="en-US" sz="1200" dirty="0"/>
          </a:p>
        </p:txBody>
      </p:sp>
      <p:sp>
        <p:nvSpPr>
          <p:cNvPr id="24" name="Shape 20"/>
          <p:cNvSpPr/>
          <p:nvPr/>
        </p:nvSpPr>
        <p:spPr>
          <a:xfrm>
            <a:off x="365760" y="3886200"/>
            <a:ext cx="3657600" cy="2194560"/>
          </a:xfrm>
          <a:prstGeom prst="rect">
            <a:avLst/>
          </a:prstGeom>
          <a:solidFill>
            <a:srgbClr val="F4F7FB"/>
          </a:solidFill>
          <a:ln w="6350">
            <a:solidFill>
              <a:srgbClr val="E2E8F0"/>
            </a:solidFill>
            <a:prstDash val="solid"/>
          </a:ln>
        </p:spPr>
      </p:sp>
      <p:sp>
        <p:nvSpPr>
          <p:cNvPr id="25" name="Shape 21"/>
          <p:cNvSpPr/>
          <p:nvPr/>
        </p:nvSpPr>
        <p:spPr>
          <a:xfrm>
            <a:off x="365760" y="3886200"/>
            <a:ext cx="3657600" cy="73152"/>
          </a:xfrm>
          <a:prstGeom prst="rect">
            <a:avLst/>
          </a:prstGeom>
          <a:solidFill>
            <a:srgbClr val="00838F"/>
          </a:solidFill>
          <a:ln/>
        </p:spPr>
      </p:sp>
      <p:sp>
        <p:nvSpPr>
          <p:cNvPr id="26" name="Shape 22"/>
          <p:cNvSpPr/>
          <p:nvPr/>
        </p:nvSpPr>
        <p:spPr>
          <a:xfrm>
            <a:off x="594360" y="4160520"/>
            <a:ext cx="502920" cy="502920"/>
          </a:xfrm>
          <a:prstGeom prst="ellipse">
            <a:avLst/>
          </a:prstGeom>
          <a:solidFill>
            <a:srgbClr val="0B2A4A"/>
          </a:solidFill>
          <a:ln/>
        </p:spPr>
      </p:sp>
      <p:sp>
        <p:nvSpPr>
          <p:cNvPr id="27" name="Text 23"/>
          <p:cNvSpPr/>
          <p:nvPr/>
        </p:nvSpPr>
        <p:spPr>
          <a:xfrm>
            <a:off x="594360" y="41605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8" name="Text 24"/>
          <p:cNvSpPr/>
          <p:nvPr/>
        </p:nvSpPr>
        <p:spPr>
          <a:xfrm>
            <a:off x="1234440" y="4160520"/>
            <a:ext cx="2651760" cy="50292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Security &amp; Compliance</a:t>
            </a:r>
            <a:endParaRPr lang="en-US" sz="1500" dirty="0"/>
          </a:p>
        </p:txBody>
      </p:sp>
      <p:sp>
        <p:nvSpPr>
          <p:cNvPr id="29" name="Text 25"/>
          <p:cNvSpPr/>
          <p:nvPr/>
        </p:nvSpPr>
        <p:spPr>
          <a:xfrm>
            <a:off x="594360" y="4800600"/>
            <a:ext cx="3200400" cy="11430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Implement role-based access control, audit logging, and immutable audit trails.</a:t>
            </a:r>
            <a:endParaRPr lang="en-US" sz="1200" dirty="0"/>
          </a:p>
        </p:txBody>
      </p:sp>
      <p:sp>
        <p:nvSpPr>
          <p:cNvPr id="30" name="Shape 26"/>
          <p:cNvSpPr/>
          <p:nvPr/>
        </p:nvSpPr>
        <p:spPr>
          <a:xfrm>
            <a:off x="4251960" y="3886200"/>
            <a:ext cx="3657600" cy="2194560"/>
          </a:xfrm>
          <a:prstGeom prst="rect">
            <a:avLst/>
          </a:prstGeom>
          <a:solidFill>
            <a:srgbClr val="F4F7FB"/>
          </a:solidFill>
          <a:ln w="6350">
            <a:solidFill>
              <a:srgbClr val="E2E8F0"/>
            </a:solidFill>
            <a:prstDash val="solid"/>
          </a:ln>
        </p:spPr>
      </p:sp>
      <p:sp>
        <p:nvSpPr>
          <p:cNvPr id="31" name="Shape 27"/>
          <p:cNvSpPr/>
          <p:nvPr/>
        </p:nvSpPr>
        <p:spPr>
          <a:xfrm>
            <a:off x="4251960" y="3886200"/>
            <a:ext cx="3657600" cy="73152"/>
          </a:xfrm>
          <a:prstGeom prst="rect">
            <a:avLst/>
          </a:prstGeom>
          <a:solidFill>
            <a:srgbClr val="1565C0"/>
          </a:solidFill>
          <a:ln/>
        </p:spPr>
      </p:sp>
      <p:sp>
        <p:nvSpPr>
          <p:cNvPr id="32" name="Shape 28"/>
          <p:cNvSpPr/>
          <p:nvPr/>
        </p:nvSpPr>
        <p:spPr>
          <a:xfrm>
            <a:off x="4480560" y="4160520"/>
            <a:ext cx="502920" cy="502920"/>
          </a:xfrm>
          <a:prstGeom prst="ellipse">
            <a:avLst/>
          </a:prstGeom>
          <a:solidFill>
            <a:srgbClr val="0B2A4A"/>
          </a:solidFill>
          <a:ln/>
        </p:spPr>
      </p:sp>
      <p:sp>
        <p:nvSpPr>
          <p:cNvPr id="33" name="Text 29"/>
          <p:cNvSpPr/>
          <p:nvPr/>
        </p:nvSpPr>
        <p:spPr>
          <a:xfrm>
            <a:off x="4480560" y="41605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34" name="Text 30"/>
          <p:cNvSpPr/>
          <p:nvPr/>
        </p:nvSpPr>
        <p:spPr>
          <a:xfrm>
            <a:off x="5120640" y="4160520"/>
            <a:ext cx="2651760" cy="50292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Scalability</a:t>
            </a:r>
            <a:endParaRPr lang="en-US" sz="1500" dirty="0"/>
          </a:p>
        </p:txBody>
      </p:sp>
      <p:sp>
        <p:nvSpPr>
          <p:cNvPr id="35" name="Text 31"/>
          <p:cNvSpPr/>
          <p:nvPr/>
        </p:nvSpPr>
        <p:spPr>
          <a:xfrm>
            <a:off x="4480560" y="4800600"/>
            <a:ext cx="3200400" cy="11430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Architect the system to support multi-city, multi-agency rollout with 100K+ concurrent users.</a:t>
            </a:r>
            <a:endParaRPr lang="en-US" sz="1200" dirty="0"/>
          </a:p>
        </p:txBody>
      </p:sp>
      <p:sp>
        <p:nvSpPr>
          <p:cNvPr id="36" name="Shape 32"/>
          <p:cNvSpPr/>
          <p:nvPr/>
        </p:nvSpPr>
        <p:spPr>
          <a:xfrm>
            <a:off x="8138160" y="3886200"/>
            <a:ext cx="3657600" cy="2194560"/>
          </a:xfrm>
          <a:prstGeom prst="rect">
            <a:avLst/>
          </a:prstGeom>
          <a:solidFill>
            <a:srgbClr val="F4F7FB"/>
          </a:solidFill>
          <a:ln w="6350">
            <a:solidFill>
              <a:srgbClr val="E2E8F0"/>
            </a:solidFill>
            <a:prstDash val="solid"/>
          </a:ln>
        </p:spPr>
      </p:sp>
      <p:sp>
        <p:nvSpPr>
          <p:cNvPr id="37" name="Shape 33"/>
          <p:cNvSpPr/>
          <p:nvPr/>
        </p:nvSpPr>
        <p:spPr>
          <a:xfrm>
            <a:off x="8138160" y="3886200"/>
            <a:ext cx="3657600" cy="73152"/>
          </a:xfrm>
          <a:prstGeom prst="rect">
            <a:avLst/>
          </a:prstGeom>
          <a:solidFill>
            <a:srgbClr val="00838F"/>
          </a:solidFill>
          <a:ln/>
        </p:spPr>
      </p:sp>
      <p:sp>
        <p:nvSpPr>
          <p:cNvPr id="38" name="Shape 34"/>
          <p:cNvSpPr/>
          <p:nvPr/>
        </p:nvSpPr>
        <p:spPr>
          <a:xfrm>
            <a:off x="8366760" y="4160520"/>
            <a:ext cx="502920" cy="502920"/>
          </a:xfrm>
          <a:prstGeom prst="ellipse">
            <a:avLst/>
          </a:prstGeom>
          <a:solidFill>
            <a:srgbClr val="0B2A4A"/>
          </a:solidFill>
          <a:ln/>
        </p:spPr>
      </p:sp>
      <p:sp>
        <p:nvSpPr>
          <p:cNvPr id="39" name="Text 35"/>
          <p:cNvSpPr/>
          <p:nvPr/>
        </p:nvSpPr>
        <p:spPr>
          <a:xfrm>
            <a:off x="8366760" y="41605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40" name="Text 36"/>
          <p:cNvSpPr/>
          <p:nvPr/>
        </p:nvSpPr>
        <p:spPr>
          <a:xfrm>
            <a:off x="9006840" y="4160520"/>
            <a:ext cx="2651760" cy="50292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Real-World Practice</a:t>
            </a:r>
            <a:endParaRPr lang="en-US" sz="1500" dirty="0"/>
          </a:p>
        </p:txBody>
      </p:sp>
      <p:sp>
        <p:nvSpPr>
          <p:cNvPr id="41" name="Text 37"/>
          <p:cNvSpPr/>
          <p:nvPr/>
        </p:nvSpPr>
        <p:spPr>
          <a:xfrm>
            <a:off x="8366760" y="4800600"/>
            <a:ext cx="3200400" cy="11430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Apply SDLC, version control, and Agile collaboration practices in a team setting.</a:t>
            </a:r>
            <a:endParaRPr lang="en-US" sz="1200" dirty="0"/>
          </a:p>
        </p:txBody>
      </p:sp>
      <p:sp>
        <p:nvSpPr>
          <p:cNvPr id="42" name="Text 38"/>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43" name="Text 39"/>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Modules Completed</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Shape 2"/>
          <p:cNvSpPr/>
          <p:nvPr/>
        </p:nvSpPr>
        <p:spPr>
          <a:xfrm>
            <a:off x="434340" y="1371600"/>
            <a:ext cx="2651760" cy="2286000"/>
          </a:xfrm>
          <a:prstGeom prst="rect">
            <a:avLst/>
          </a:prstGeom>
          <a:solidFill>
            <a:srgbClr val="FFFFFF"/>
          </a:solidFill>
          <a:ln w="9525">
            <a:solidFill>
              <a:srgbClr val="E2E8F0"/>
            </a:solidFill>
            <a:prstDash val="solid"/>
          </a:ln>
        </p:spPr>
      </p:sp>
      <p:sp>
        <p:nvSpPr>
          <p:cNvPr id="7" name="Shape 3"/>
          <p:cNvSpPr/>
          <p:nvPr/>
        </p:nvSpPr>
        <p:spPr>
          <a:xfrm>
            <a:off x="434340" y="1371600"/>
            <a:ext cx="2651760" cy="640080"/>
          </a:xfrm>
          <a:prstGeom prst="rect">
            <a:avLst/>
          </a:prstGeom>
          <a:solidFill>
            <a:srgbClr val="1565C0"/>
          </a:solidFill>
          <a:ln/>
        </p:spPr>
      </p:sp>
      <p:sp>
        <p:nvSpPr>
          <p:cNvPr id="8" name="Text 4"/>
          <p:cNvSpPr/>
          <p:nvPr/>
        </p:nvSpPr>
        <p:spPr>
          <a:xfrm>
            <a:off x="434340" y="1371600"/>
            <a:ext cx="26517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9" name="Text 5"/>
          <p:cNvSpPr/>
          <p:nvPr/>
        </p:nvSpPr>
        <p:spPr>
          <a:xfrm>
            <a:off x="571500" y="2148840"/>
            <a:ext cx="2377440" cy="822960"/>
          </a:xfrm>
          <a:prstGeom prst="rect">
            <a:avLst/>
          </a:prstGeom>
          <a:noFill/>
          <a:ln/>
        </p:spPr>
        <p:txBody>
          <a:bodyPr wrap="square" lIns="0" tIns="0" rIns="0" bIns="0" rtlCol="0" anchor="ctr"/>
          <a:lstStyle/>
          <a:p>
            <a:pPr algn="ctr" indent="0" marL="0">
              <a:buNone/>
            </a:pPr>
            <a:r>
              <a:rPr lang="en-US" sz="1300" b="1" dirty="0">
                <a:solidFill>
                  <a:srgbClr val="0B2A4A"/>
                </a:solidFill>
                <a:latin typeface="Calibri" pitchFamily="34" charset="0"/>
                <a:ea typeface="Calibri" pitchFamily="34" charset="-122"/>
                <a:cs typeface="Calibri" pitchFamily="34" charset="-120"/>
              </a:rPr>
              <a:t>Identity &amp; Access Management</a:t>
            </a:r>
            <a:endParaRPr lang="en-US" sz="1300" dirty="0"/>
          </a:p>
        </p:txBody>
      </p:sp>
      <p:sp>
        <p:nvSpPr>
          <p:cNvPr id="10" name="Text 6"/>
          <p:cNvSpPr/>
          <p:nvPr/>
        </p:nvSpPr>
        <p:spPr>
          <a:xfrm>
            <a:off x="571500" y="2971800"/>
            <a:ext cx="2377440" cy="594360"/>
          </a:xfrm>
          <a:prstGeom prst="rect">
            <a:avLst/>
          </a:prstGeom>
          <a:noFill/>
          <a:ln/>
        </p:spPr>
        <p:txBody>
          <a:bodyPr wrap="square" lIns="0" tIns="0" rIns="0" bIns="0" rtlCol="0" anchor="t"/>
          <a:lstStyle/>
          <a:p>
            <a:pPr algn="ctr" indent="0" marL="0">
              <a:buNone/>
            </a:pPr>
            <a:r>
              <a:rPr lang="en-US" sz="1100" i="1" dirty="0">
                <a:solidFill>
                  <a:srgbClr val="64748B"/>
                </a:solidFill>
                <a:latin typeface="Calibri" pitchFamily="34" charset="0"/>
                <a:ea typeface="Calibri" pitchFamily="34" charset="-122"/>
                <a:cs typeface="Calibri" pitchFamily="34" charset="-120"/>
              </a:rPr>
              <a:t>Authentication, RBAC, audit logging</a:t>
            </a:r>
            <a:endParaRPr lang="en-US" sz="1100" dirty="0"/>
          </a:p>
        </p:txBody>
      </p:sp>
      <p:sp>
        <p:nvSpPr>
          <p:cNvPr id="11" name="Shape 7"/>
          <p:cNvSpPr/>
          <p:nvPr/>
        </p:nvSpPr>
        <p:spPr>
          <a:xfrm>
            <a:off x="3314700" y="1371600"/>
            <a:ext cx="2651760" cy="2286000"/>
          </a:xfrm>
          <a:prstGeom prst="rect">
            <a:avLst/>
          </a:prstGeom>
          <a:solidFill>
            <a:srgbClr val="FFFFFF"/>
          </a:solidFill>
          <a:ln w="9525">
            <a:solidFill>
              <a:srgbClr val="E2E8F0"/>
            </a:solidFill>
            <a:prstDash val="solid"/>
          </a:ln>
        </p:spPr>
      </p:sp>
      <p:sp>
        <p:nvSpPr>
          <p:cNvPr id="12" name="Shape 8"/>
          <p:cNvSpPr/>
          <p:nvPr/>
        </p:nvSpPr>
        <p:spPr>
          <a:xfrm>
            <a:off x="3314700" y="1371600"/>
            <a:ext cx="2651760" cy="640080"/>
          </a:xfrm>
          <a:prstGeom prst="rect">
            <a:avLst/>
          </a:prstGeom>
          <a:solidFill>
            <a:srgbClr val="00838F"/>
          </a:solidFill>
          <a:ln/>
        </p:spPr>
      </p:sp>
      <p:sp>
        <p:nvSpPr>
          <p:cNvPr id="13" name="Text 9"/>
          <p:cNvSpPr/>
          <p:nvPr/>
        </p:nvSpPr>
        <p:spPr>
          <a:xfrm>
            <a:off x="3314700" y="1371600"/>
            <a:ext cx="26517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4" name="Text 10"/>
          <p:cNvSpPr/>
          <p:nvPr/>
        </p:nvSpPr>
        <p:spPr>
          <a:xfrm>
            <a:off x="3451860" y="2148840"/>
            <a:ext cx="2377440" cy="822960"/>
          </a:xfrm>
          <a:prstGeom prst="rect">
            <a:avLst/>
          </a:prstGeom>
          <a:noFill/>
          <a:ln/>
        </p:spPr>
        <p:txBody>
          <a:bodyPr wrap="square" lIns="0" tIns="0" rIns="0" bIns="0" rtlCol="0" anchor="ctr"/>
          <a:lstStyle/>
          <a:p>
            <a:pPr algn="ctr" indent="0" marL="0">
              <a:buNone/>
            </a:pPr>
            <a:r>
              <a:rPr lang="en-US" sz="1300" b="1" dirty="0">
                <a:solidFill>
                  <a:srgbClr val="0B2A4A"/>
                </a:solidFill>
                <a:latin typeface="Calibri" pitchFamily="34" charset="0"/>
                <a:ea typeface="Calibri" pitchFamily="34" charset="-122"/>
                <a:cs typeface="Calibri" pitchFamily="34" charset="-120"/>
              </a:rPr>
              <a:t>Traffic Incident Reporting</a:t>
            </a:r>
            <a:endParaRPr lang="en-US" sz="1300" dirty="0"/>
          </a:p>
        </p:txBody>
      </p:sp>
      <p:sp>
        <p:nvSpPr>
          <p:cNvPr id="15" name="Text 11"/>
          <p:cNvSpPr/>
          <p:nvPr/>
        </p:nvSpPr>
        <p:spPr>
          <a:xfrm>
            <a:off x="3451860" y="2971800"/>
            <a:ext cx="2377440" cy="594360"/>
          </a:xfrm>
          <a:prstGeom prst="rect">
            <a:avLst/>
          </a:prstGeom>
          <a:noFill/>
          <a:ln/>
        </p:spPr>
        <p:txBody>
          <a:bodyPr wrap="square" lIns="0" tIns="0" rIns="0" bIns="0" rtlCol="0" anchor="t"/>
          <a:lstStyle/>
          <a:p>
            <a:pPr algn="ctr" indent="0" marL="0">
              <a:buNone/>
            </a:pPr>
            <a:r>
              <a:rPr lang="en-US" sz="1100" i="1" dirty="0">
                <a:solidFill>
                  <a:srgbClr val="64748B"/>
                </a:solidFill>
                <a:latin typeface="Calibri" pitchFamily="34" charset="0"/>
                <a:ea typeface="Calibri" pitchFamily="34" charset="-122"/>
                <a:cs typeface="Calibri" pitchFamily="34" charset="-120"/>
              </a:rPr>
              <a:t>Report, track &amp; resolve incidents</a:t>
            </a:r>
            <a:endParaRPr lang="en-US" sz="1100" dirty="0"/>
          </a:p>
        </p:txBody>
      </p:sp>
      <p:sp>
        <p:nvSpPr>
          <p:cNvPr id="16" name="Shape 12"/>
          <p:cNvSpPr/>
          <p:nvPr/>
        </p:nvSpPr>
        <p:spPr>
          <a:xfrm>
            <a:off x="6195060" y="1371600"/>
            <a:ext cx="2651760" cy="2286000"/>
          </a:xfrm>
          <a:prstGeom prst="rect">
            <a:avLst/>
          </a:prstGeom>
          <a:solidFill>
            <a:srgbClr val="FFFFFF"/>
          </a:solidFill>
          <a:ln w="9525">
            <a:solidFill>
              <a:srgbClr val="E2E8F0"/>
            </a:solidFill>
            <a:prstDash val="solid"/>
          </a:ln>
        </p:spPr>
      </p:sp>
      <p:sp>
        <p:nvSpPr>
          <p:cNvPr id="17" name="Shape 13"/>
          <p:cNvSpPr/>
          <p:nvPr/>
        </p:nvSpPr>
        <p:spPr>
          <a:xfrm>
            <a:off x="6195060" y="1371600"/>
            <a:ext cx="2651760" cy="640080"/>
          </a:xfrm>
          <a:prstGeom prst="rect">
            <a:avLst/>
          </a:prstGeom>
          <a:solidFill>
            <a:srgbClr val="FFA000"/>
          </a:solidFill>
          <a:ln/>
        </p:spPr>
      </p:sp>
      <p:sp>
        <p:nvSpPr>
          <p:cNvPr id="18" name="Text 14"/>
          <p:cNvSpPr/>
          <p:nvPr/>
        </p:nvSpPr>
        <p:spPr>
          <a:xfrm>
            <a:off x="6195060" y="1371600"/>
            <a:ext cx="26517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19" name="Text 15"/>
          <p:cNvSpPr/>
          <p:nvPr/>
        </p:nvSpPr>
        <p:spPr>
          <a:xfrm>
            <a:off x="6332220" y="2148840"/>
            <a:ext cx="2377440" cy="822960"/>
          </a:xfrm>
          <a:prstGeom prst="rect">
            <a:avLst/>
          </a:prstGeom>
          <a:noFill/>
          <a:ln/>
        </p:spPr>
        <p:txBody>
          <a:bodyPr wrap="square" lIns="0" tIns="0" rIns="0" bIns="0" rtlCol="0" anchor="ctr"/>
          <a:lstStyle/>
          <a:p>
            <a:pPr algn="ctr" indent="0" marL="0">
              <a:buNone/>
            </a:pPr>
            <a:r>
              <a:rPr lang="en-US" sz="1300" b="1" dirty="0">
                <a:solidFill>
                  <a:srgbClr val="0B2A4A"/>
                </a:solidFill>
                <a:latin typeface="Calibri" pitchFamily="34" charset="0"/>
                <a:ea typeface="Calibri" pitchFamily="34" charset="-122"/>
                <a:cs typeface="Calibri" pitchFamily="34" charset="-120"/>
              </a:rPr>
              <a:t>Road &amp; Traffic Flow Monitoring</a:t>
            </a:r>
            <a:endParaRPr lang="en-US" sz="1300" dirty="0"/>
          </a:p>
        </p:txBody>
      </p:sp>
      <p:sp>
        <p:nvSpPr>
          <p:cNvPr id="20" name="Text 16"/>
          <p:cNvSpPr/>
          <p:nvPr/>
        </p:nvSpPr>
        <p:spPr>
          <a:xfrm>
            <a:off x="6332220" y="2971800"/>
            <a:ext cx="2377440" cy="594360"/>
          </a:xfrm>
          <a:prstGeom prst="rect">
            <a:avLst/>
          </a:prstGeom>
          <a:noFill/>
          <a:ln/>
        </p:spPr>
        <p:txBody>
          <a:bodyPr wrap="square" lIns="0" tIns="0" rIns="0" bIns="0" rtlCol="0" anchor="t"/>
          <a:lstStyle/>
          <a:p>
            <a:pPr algn="ctr" indent="0" marL="0">
              <a:buNone/>
            </a:pPr>
            <a:r>
              <a:rPr lang="en-US" sz="1100" i="1" dirty="0">
                <a:solidFill>
                  <a:srgbClr val="64748B"/>
                </a:solidFill>
                <a:latin typeface="Calibri" pitchFamily="34" charset="0"/>
                <a:ea typeface="Calibri" pitchFamily="34" charset="-122"/>
                <a:cs typeface="Calibri" pitchFamily="34" charset="-120"/>
              </a:rPr>
              <a:t>Volume, speed &amp; congestion data</a:t>
            </a:r>
            <a:endParaRPr lang="en-US" sz="1100" dirty="0"/>
          </a:p>
        </p:txBody>
      </p:sp>
      <p:sp>
        <p:nvSpPr>
          <p:cNvPr id="21" name="Shape 17"/>
          <p:cNvSpPr/>
          <p:nvPr/>
        </p:nvSpPr>
        <p:spPr>
          <a:xfrm>
            <a:off x="9075420" y="1371600"/>
            <a:ext cx="2651760" cy="2286000"/>
          </a:xfrm>
          <a:prstGeom prst="rect">
            <a:avLst/>
          </a:prstGeom>
          <a:solidFill>
            <a:srgbClr val="FFFFFF"/>
          </a:solidFill>
          <a:ln w="9525">
            <a:solidFill>
              <a:srgbClr val="E2E8F0"/>
            </a:solidFill>
            <a:prstDash val="solid"/>
          </a:ln>
        </p:spPr>
      </p:sp>
      <p:sp>
        <p:nvSpPr>
          <p:cNvPr id="22" name="Shape 18"/>
          <p:cNvSpPr/>
          <p:nvPr/>
        </p:nvSpPr>
        <p:spPr>
          <a:xfrm>
            <a:off x="9075420" y="1371600"/>
            <a:ext cx="2651760" cy="640080"/>
          </a:xfrm>
          <a:prstGeom prst="rect">
            <a:avLst/>
          </a:prstGeom>
          <a:solidFill>
            <a:srgbClr val="0B2A4A"/>
          </a:solidFill>
          <a:ln/>
        </p:spPr>
      </p:sp>
      <p:sp>
        <p:nvSpPr>
          <p:cNvPr id="23" name="Text 19"/>
          <p:cNvSpPr/>
          <p:nvPr/>
        </p:nvSpPr>
        <p:spPr>
          <a:xfrm>
            <a:off x="9075420" y="1371600"/>
            <a:ext cx="26517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24" name="Text 20"/>
          <p:cNvSpPr/>
          <p:nvPr/>
        </p:nvSpPr>
        <p:spPr>
          <a:xfrm>
            <a:off x="9212580" y="2148840"/>
            <a:ext cx="2377440" cy="822960"/>
          </a:xfrm>
          <a:prstGeom prst="rect">
            <a:avLst/>
          </a:prstGeom>
          <a:noFill/>
          <a:ln/>
        </p:spPr>
        <p:txBody>
          <a:bodyPr wrap="square" lIns="0" tIns="0" rIns="0" bIns="0" rtlCol="0" anchor="ctr"/>
          <a:lstStyle/>
          <a:p>
            <a:pPr algn="ctr" indent="0" marL="0">
              <a:buNone/>
            </a:pPr>
            <a:r>
              <a:rPr lang="en-US" sz="1300" b="1" dirty="0">
                <a:solidFill>
                  <a:srgbClr val="0B2A4A"/>
                </a:solidFill>
                <a:latin typeface="Calibri" pitchFamily="34" charset="0"/>
                <a:ea typeface="Calibri" pitchFamily="34" charset="-122"/>
                <a:cs typeface="Calibri" pitchFamily="34" charset="-120"/>
              </a:rPr>
              <a:t>Public Transport Scheduling</a:t>
            </a:r>
            <a:endParaRPr lang="en-US" sz="1300" dirty="0"/>
          </a:p>
        </p:txBody>
      </p:sp>
      <p:sp>
        <p:nvSpPr>
          <p:cNvPr id="25" name="Text 21"/>
          <p:cNvSpPr/>
          <p:nvPr/>
        </p:nvSpPr>
        <p:spPr>
          <a:xfrm>
            <a:off x="9212580" y="2971800"/>
            <a:ext cx="2377440" cy="594360"/>
          </a:xfrm>
          <a:prstGeom prst="rect">
            <a:avLst/>
          </a:prstGeom>
          <a:noFill/>
          <a:ln/>
        </p:spPr>
        <p:txBody>
          <a:bodyPr wrap="square" lIns="0" tIns="0" rIns="0" bIns="0" rtlCol="0" anchor="t"/>
          <a:lstStyle/>
          <a:p>
            <a:pPr algn="ctr" indent="0" marL="0">
              <a:buNone/>
            </a:pPr>
            <a:r>
              <a:rPr lang="en-US" sz="1100" i="1" dirty="0">
                <a:solidFill>
                  <a:srgbClr val="64748B"/>
                </a:solidFill>
                <a:latin typeface="Calibri" pitchFamily="34" charset="0"/>
                <a:ea typeface="Calibri" pitchFamily="34" charset="-122"/>
                <a:cs typeface="Calibri" pitchFamily="34" charset="-120"/>
              </a:rPr>
              <a:t>Routes, schedules, fleet management</a:t>
            </a:r>
            <a:endParaRPr lang="en-US" sz="1100" dirty="0"/>
          </a:p>
        </p:txBody>
      </p:sp>
      <p:sp>
        <p:nvSpPr>
          <p:cNvPr id="26" name="Shape 22"/>
          <p:cNvSpPr/>
          <p:nvPr/>
        </p:nvSpPr>
        <p:spPr>
          <a:xfrm>
            <a:off x="1874520" y="3840480"/>
            <a:ext cx="2651760" cy="2286000"/>
          </a:xfrm>
          <a:prstGeom prst="rect">
            <a:avLst/>
          </a:prstGeom>
          <a:solidFill>
            <a:srgbClr val="FFFFFF"/>
          </a:solidFill>
          <a:ln w="9525">
            <a:solidFill>
              <a:srgbClr val="E2E8F0"/>
            </a:solidFill>
            <a:prstDash val="solid"/>
          </a:ln>
        </p:spPr>
      </p:sp>
      <p:sp>
        <p:nvSpPr>
          <p:cNvPr id="27" name="Shape 23"/>
          <p:cNvSpPr/>
          <p:nvPr/>
        </p:nvSpPr>
        <p:spPr>
          <a:xfrm>
            <a:off x="1874520" y="3840480"/>
            <a:ext cx="2651760" cy="640080"/>
          </a:xfrm>
          <a:prstGeom prst="rect">
            <a:avLst/>
          </a:prstGeom>
          <a:solidFill>
            <a:srgbClr val="1565C0"/>
          </a:solidFill>
          <a:ln/>
        </p:spPr>
      </p:sp>
      <p:sp>
        <p:nvSpPr>
          <p:cNvPr id="28" name="Text 24"/>
          <p:cNvSpPr/>
          <p:nvPr/>
        </p:nvSpPr>
        <p:spPr>
          <a:xfrm>
            <a:off x="1874520" y="3840480"/>
            <a:ext cx="26517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05</a:t>
            </a:r>
            <a:endParaRPr lang="en-US" sz="2200" dirty="0"/>
          </a:p>
        </p:txBody>
      </p:sp>
      <p:sp>
        <p:nvSpPr>
          <p:cNvPr id="29" name="Text 25"/>
          <p:cNvSpPr/>
          <p:nvPr/>
        </p:nvSpPr>
        <p:spPr>
          <a:xfrm>
            <a:off x="2011680" y="4617720"/>
            <a:ext cx="2377440" cy="822960"/>
          </a:xfrm>
          <a:prstGeom prst="rect">
            <a:avLst/>
          </a:prstGeom>
          <a:noFill/>
          <a:ln/>
        </p:spPr>
        <p:txBody>
          <a:bodyPr wrap="square" lIns="0" tIns="0" rIns="0" bIns="0" rtlCol="0" anchor="ctr"/>
          <a:lstStyle/>
          <a:p>
            <a:pPr algn="ctr" indent="0" marL="0">
              <a:buNone/>
            </a:pPr>
            <a:r>
              <a:rPr lang="en-US" sz="1300" b="1" dirty="0">
                <a:solidFill>
                  <a:srgbClr val="0B2A4A"/>
                </a:solidFill>
                <a:latin typeface="Calibri" pitchFamily="34" charset="0"/>
                <a:ea typeface="Calibri" pitchFamily="34" charset="-122"/>
                <a:cs typeface="Calibri" pitchFamily="34" charset="-120"/>
              </a:rPr>
              <a:t>Compliance &amp; Audit Management</a:t>
            </a:r>
            <a:endParaRPr lang="en-US" sz="1300" dirty="0"/>
          </a:p>
        </p:txBody>
      </p:sp>
      <p:sp>
        <p:nvSpPr>
          <p:cNvPr id="30" name="Text 26"/>
          <p:cNvSpPr/>
          <p:nvPr/>
        </p:nvSpPr>
        <p:spPr>
          <a:xfrm>
            <a:off x="2011680" y="5440680"/>
            <a:ext cx="2377440" cy="594360"/>
          </a:xfrm>
          <a:prstGeom prst="rect">
            <a:avLst/>
          </a:prstGeom>
          <a:noFill/>
          <a:ln/>
        </p:spPr>
        <p:txBody>
          <a:bodyPr wrap="square" lIns="0" tIns="0" rIns="0" bIns="0" rtlCol="0" anchor="t"/>
          <a:lstStyle/>
          <a:p>
            <a:pPr algn="ctr" indent="0" marL="0">
              <a:buNone/>
            </a:pPr>
            <a:r>
              <a:rPr lang="en-US" sz="1100" i="1" dirty="0">
                <a:solidFill>
                  <a:srgbClr val="64748B"/>
                </a:solidFill>
                <a:latin typeface="Calibri" pitchFamily="34" charset="0"/>
                <a:ea typeface="Calibri" pitchFamily="34" charset="-122"/>
                <a:cs typeface="Calibri" pitchFamily="34" charset="-120"/>
              </a:rPr>
              <a:t>Policy adherence &amp; audit records</a:t>
            </a:r>
            <a:endParaRPr lang="en-US" sz="1100" dirty="0"/>
          </a:p>
        </p:txBody>
      </p:sp>
      <p:sp>
        <p:nvSpPr>
          <p:cNvPr id="31" name="Shape 27"/>
          <p:cNvSpPr/>
          <p:nvPr/>
        </p:nvSpPr>
        <p:spPr>
          <a:xfrm>
            <a:off x="4754880" y="3840480"/>
            <a:ext cx="2651760" cy="2286000"/>
          </a:xfrm>
          <a:prstGeom prst="rect">
            <a:avLst/>
          </a:prstGeom>
          <a:solidFill>
            <a:srgbClr val="FFFFFF"/>
          </a:solidFill>
          <a:ln w="9525">
            <a:solidFill>
              <a:srgbClr val="E2E8F0"/>
            </a:solidFill>
            <a:prstDash val="solid"/>
          </a:ln>
        </p:spPr>
      </p:sp>
      <p:sp>
        <p:nvSpPr>
          <p:cNvPr id="32" name="Shape 28"/>
          <p:cNvSpPr/>
          <p:nvPr/>
        </p:nvSpPr>
        <p:spPr>
          <a:xfrm>
            <a:off x="4754880" y="3840480"/>
            <a:ext cx="2651760" cy="640080"/>
          </a:xfrm>
          <a:prstGeom prst="rect">
            <a:avLst/>
          </a:prstGeom>
          <a:solidFill>
            <a:srgbClr val="00838F"/>
          </a:solidFill>
          <a:ln/>
        </p:spPr>
      </p:sp>
      <p:sp>
        <p:nvSpPr>
          <p:cNvPr id="33" name="Text 29"/>
          <p:cNvSpPr/>
          <p:nvPr/>
        </p:nvSpPr>
        <p:spPr>
          <a:xfrm>
            <a:off x="4754880" y="3840480"/>
            <a:ext cx="26517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06</a:t>
            </a:r>
            <a:endParaRPr lang="en-US" sz="2200" dirty="0"/>
          </a:p>
        </p:txBody>
      </p:sp>
      <p:sp>
        <p:nvSpPr>
          <p:cNvPr id="34" name="Text 30"/>
          <p:cNvSpPr/>
          <p:nvPr/>
        </p:nvSpPr>
        <p:spPr>
          <a:xfrm>
            <a:off x="4892040" y="4617720"/>
            <a:ext cx="2377440" cy="822960"/>
          </a:xfrm>
          <a:prstGeom prst="rect">
            <a:avLst/>
          </a:prstGeom>
          <a:noFill/>
          <a:ln/>
        </p:spPr>
        <p:txBody>
          <a:bodyPr wrap="square" lIns="0" tIns="0" rIns="0" bIns="0" rtlCol="0" anchor="ctr"/>
          <a:lstStyle/>
          <a:p>
            <a:pPr algn="ctr" indent="0" marL="0">
              <a:buNone/>
            </a:pPr>
            <a:r>
              <a:rPr lang="en-US" sz="1300" b="1" dirty="0">
                <a:solidFill>
                  <a:srgbClr val="0B2A4A"/>
                </a:solidFill>
                <a:latin typeface="Calibri" pitchFamily="34" charset="0"/>
                <a:ea typeface="Calibri" pitchFamily="34" charset="-122"/>
                <a:cs typeface="Calibri" pitchFamily="34" charset="-120"/>
              </a:rPr>
              <a:t>Reporting &amp; Analytics</a:t>
            </a:r>
            <a:endParaRPr lang="en-US" sz="1300" dirty="0"/>
          </a:p>
        </p:txBody>
      </p:sp>
      <p:sp>
        <p:nvSpPr>
          <p:cNvPr id="35" name="Text 31"/>
          <p:cNvSpPr/>
          <p:nvPr/>
        </p:nvSpPr>
        <p:spPr>
          <a:xfrm>
            <a:off x="4892040" y="5440680"/>
            <a:ext cx="2377440" cy="594360"/>
          </a:xfrm>
          <a:prstGeom prst="rect">
            <a:avLst/>
          </a:prstGeom>
          <a:noFill/>
          <a:ln/>
        </p:spPr>
        <p:txBody>
          <a:bodyPr wrap="square" lIns="0" tIns="0" rIns="0" bIns="0" rtlCol="0" anchor="t"/>
          <a:lstStyle/>
          <a:p>
            <a:pPr algn="ctr" indent="0" marL="0">
              <a:buNone/>
            </a:pPr>
            <a:r>
              <a:rPr lang="en-US" sz="1100" i="1" dirty="0">
                <a:solidFill>
                  <a:srgbClr val="64748B"/>
                </a:solidFill>
                <a:latin typeface="Calibri" pitchFamily="34" charset="0"/>
                <a:ea typeface="Calibri" pitchFamily="34" charset="-122"/>
                <a:cs typeface="Calibri" pitchFamily="34" charset="-120"/>
              </a:rPr>
              <a:t>Dashboards &amp; performance metrics</a:t>
            </a:r>
            <a:endParaRPr lang="en-US" sz="1100" dirty="0"/>
          </a:p>
        </p:txBody>
      </p:sp>
      <p:sp>
        <p:nvSpPr>
          <p:cNvPr id="36" name="Shape 32"/>
          <p:cNvSpPr/>
          <p:nvPr/>
        </p:nvSpPr>
        <p:spPr>
          <a:xfrm>
            <a:off x="7635240" y="3840480"/>
            <a:ext cx="2651760" cy="2286000"/>
          </a:xfrm>
          <a:prstGeom prst="rect">
            <a:avLst/>
          </a:prstGeom>
          <a:solidFill>
            <a:srgbClr val="FFFFFF"/>
          </a:solidFill>
          <a:ln w="9525">
            <a:solidFill>
              <a:srgbClr val="E2E8F0"/>
            </a:solidFill>
            <a:prstDash val="solid"/>
          </a:ln>
        </p:spPr>
      </p:sp>
      <p:sp>
        <p:nvSpPr>
          <p:cNvPr id="37" name="Shape 33"/>
          <p:cNvSpPr/>
          <p:nvPr/>
        </p:nvSpPr>
        <p:spPr>
          <a:xfrm>
            <a:off x="7635240" y="3840480"/>
            <a:ext cx="2651760" cy="640080"/>
          </a:xfrm>
          <a:prstGeom prst="rect">
            <a:avLst/>
          </a:prstGeom>
          <a:solidFill>
            <a:srgbClr val="FFA000"/>
          </a:solidFill>
          <a:ln/>
        </p:spPr>
      </p:sp>
      <p:sp>
        <p:nvSpPr>
          <p:cNvPr id="38" name="Text 34"/>
          <p:cNvSpPr/>
          <p:nvPr/>
        </p:nvSpPr>
        <p:spPr>
          <a:xfrm>
            <a:off x="7635240" y="3840480"/>
            <a:ext cx="26517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07</a:t>
            </a:r>
            <a:endParaRPr lang="en-US" sz="2200" dirty="0"/>
          </a:p>
        </p:txBody>
      </p:sp>
      <p:sp>
        <p:nvSpPr>
          <p:cNvPr id="39" name="Text 35"/>
          <p:cNvSpPr/>
          <p:nvPr/>
        </p:nvSpPr>
        <p:spPr>
          <a:xfrm>
            <a:off x="7772400" y="4617720"/>
            <a:ext cx="2377440" cy="822960"/>
          </a:xfrm>
          <a:prstGeom prst="rect">
            <a:avLst/>
          </a:prstGeom>
          <a:noFill/>
          <a:ln/>
        </p:spPr>
        <p:txBody>
          <a:bodyPr wrap="square" lIns="0" tIns="0" rIns="0" bIns="0" rtlCol="0" anchor="ctr"/>
          <a:lstStyle/>
          <a:p>
            <a:pPr algn="ctr" indent="0" marL="0">
              <a:buNone/>
            </a:pPr>
            <a:r>
              <a:rPr lang="en-US" sz="1300" b="1" dirty="0">
                <a:solidFill>
                  <a:srgbClr val="0B2A4A"/>
                </a:solidFill>
                <a:latin typeface="Calibri" pitchFamily="34" charset="0"/>
                <a:ea typeface="Calibri" pitchFamily="34" charset="-122"/>
                <a:cs typeface="Calibri" pitchFamily="34" charset="-120"/>
              </a:rPr>
              <a:t>Notifications &amp; Alerts</a:t>
            </a:r>
            <a:endParaRPr lang="en-US" sz="1300" dirty="0"/>
          </a:p>
        </p:txBody>
      </p:sp>
      <p:sp>
        <p:nvSpPr>
          <p:cNvPr id="40" name="Text 36"/>
          <p:cNvSpPr/>
          <p:nvPr/>
        </p:nvSpPr>
        <p:spPr>
          <a:xfrm>
            <a:off x="7772400" y="5440680"/>
            <a:ext cx="2377440" cy="594360"/>
          </a:xfrm>
          <a:prstGeom prst="rect">
            <a:avLst/>
          </a:prstGeom>
          <a:noFill/>
          <a:ln/>
        </p:spPr>
        <p:txBody>
          <a:bodyPr wrap="square" lIns="0" tIns="0" rIns="0" bIns="0" rtlCol="0" anchor="t"/>
          <a:lstStyle/>
          <a:p>
            <a:pPr algn="ctr" indent="0" marL="0">
              <a:buNone/>
            </a:pPr>
            <a:r>
              <a:rPr lang="en-US" sz="1100" i="1" dirty="0">
                <a:solidFill>
                  <a:srgbClr val="64748B"/>
                </a:solidFill>
                <a:latin typeface="Calibri" pitchFamily="34" charset="0"/>
                <a:ea typeface="Calibri" pitchFamily="34" charset="-122"/>
                <a:cs typeface="Calibri" pitchFamily="34" charset="-120"/>
              </a:rPr>
              <a:t>In-app, SMS &amp; email alerts</a:t>
            </a:r>
            <a:endParaRPr lang="en-US" sz="1100" dirty="0"/>
          </a:p>
        </p:txBody>
      </p:sp>
      <p:sp>
        <p:nvSpPr>
          <p:cNvPr id="41" name="Text 3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42" name="Text 38"/>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Key Concepts Learned in Each Module</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Shape 2"/>
          <p:cNvSpPr/>
          <p:nvPr/>
        </p:nvSpPr>
        <p:spPr>
          <a:xfrm>
            <a:off x="388620" y="1325880"/>
            <a:ext cx="5577840" cy="1051560"/>
          </a:xfrm>
          <a:prstGeom prst="rect">
            <a:avLst/>
          </a:prstGeom>
          <a:solidFill>
            <a:srgbClr val="F4F7FB"/>
          </a:solidFill>
          <a:ln/>
        </p:spPr>
      </p:sp>
      <p:sp>
        <p:nvSpPr>
          <p:cNvPr id="7" name="Shape 3"/>
          <p:cNvSpPr/>
          <p:nvPr/>
        </p:nvSpPr>
        <p:spPr>
          <a:xfrm>
            <a:off x="388620" y="1325880"/>
            <a:ext cx="109728" cy="1051560"/>
          </a:xfrm>
          <a:prstGeom prst="rect">
            <a:avLst/>
          </a:prstGeom>
          <a:solidFill>
            <a:srgbClr val="1565C0"/>
          </a:solidFill>
          <a:ln/>
        </p:spPr>
      </p:sp>
      <p:sp>
        <p:nvSpPr>
          <p:cNvPr id="8" name="Text 4"/>
          <p:cNvSpPr/>
          <p:nvPr/>
        </p:nvSpPr>
        <p:spPr>
          <a:xfrm>
            <a:off x="662940" y="1490472"/>
            <a:ext cx="5120640" cy="36576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Identity &amp; Access</a:t>
            </a:r>
            <a:endParaRPr lang="en-US" sz="1400" dirty="0"/>
          </a:p>
        </p:txBody>
      </p:sp>
      <p:sp>
        <p:nvSpPr>
          <p:cNvPr id="9" name="Text 5"/>
          <p:cNvSpPr/>
          <p:nvPr/>
        </p:nvSpPr>
        <p:spPr>
          <a:xfrm>
            <a:off x="662940" y="1874520"/>
            <a:ext cx="5120640" cy="41148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JWT-based authentication, role-based authorization, immutable audit logs.</a:t>
            </a:r>
            <a:endParaRPr lang="en-US" sz="1200" dirty="0"/>
          </a:p>
        </p:txBody>
      </p:sp>
      <p:sp>
        <p:nvSpPr>
          <p:cNvPr id="10" name="Shape 6"/>
          <p:cNvSpPr/>
          <p:nvPr/>
        </p:nvSpPr>
        <p:spPr>
          <a:xfrm>
            <a:off x="6195060" y="1325880"/>
            <a:ext cx="5577840" cy="1051560"/>
          </a:xfrm>
          <a:prstGeom prst="rect">
            <a:avLst/>
          </a:prstGeom>
          <a:solidFill>
            <a:srgbClr val="F4F7FB"/>
          </a:solidFill>
          <a:ln/>
        </p:spPr>
      </p:sp>
      <p:sp>
        <p:nvSpPr>
          <p:cNvPr id="11" name="Shape 7"/>
          <p:cNvSpPr/>
          <p:nvPr/>
        </p:nvSpPr>
        <p:spPr>
          <a:xfrm>
            <a:off x="6195060" y="1325880"/>
            <a:ext cx="109728" cy="1051560"/>
          </a:xfrm>
          <a:prstGeom prst="rect">
            <a:avLst/>
          </a:prstGeom>
          <a:solidFill>
            <a:srgbClr val="00838F"/>
          </a:solidFill>
          <a:ln/>
        </p:spPr>
      </p:sp>
      <p:sp>
        <p:nvSpPr>
          <p:cNvPr id="12" name="Text 8"/>
          <p:cNvSpPr/>
          <p:nvPr/>
        </p:nvSpPr>
        <p:spPr>
          <a:xfrm>
            <a:off x="6469380" y="1490472"/>
            <a:ext cx="5120640" cy="36576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Incident Management</a:t>
            </a:r>
            <a:endParaRPr lang="en-US" sz="1400" dirty="0"/>
          </a:p>
        </p:txBody>
      </p:sp>
      <p:sp>
        <p:nvSpPr>
          <p:cNvPr id="13" name="Text 9"/>
          <p:cNvSpPr/>
          <p:nvPr/>
        </p:nvSpPr>
        <p:spPr>
          <a:xfrm>
            <a:off x="6469380" y="1874520"/>
            <a:ext cx="5120640" cy="41148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Workflow state machines, geo-tagging, status tracking from report to resolution.</a:t>
            </a:r>
            <a:endParaRPr lang="en-US" sz="1200" dirty="0"/>
          </a:p>
        </p:txBody>
      </p:sp>
      <p:sp>
        <p:nvSpPr>
          <p:cNvPr id="14" name="Shape 10"/>
          <p:cNvSpPr/>
          <p:nvPr/>
        </p:nvSpPr>
        <p:spPr>
          <a:xfrm>
            <a:off x="388620" y="2514600"/>
            <a:ext cx="5577840" cy="1051560"/>
          </a:xfrm>
          <a:prstGeom prst="rect">
            <a:avLst/>
          </a:prstGeom>
          <a:solidFill>
            <a:srgbClr val="F4F7FB"/>
          </a:solidFill>
          <a:ln/>
        </p:spPr>
      </p:sp>
      <p:sp>
        <p:nvSpPr>
          <p:cNvPr id="15" name="Shape 11"/>
          <p:cNvSpPr/>
          <p:nvPr/>
        </p:nvSpPr>
        <p:spPr>
          <a:xfrm>
            <a:off x="388620" y="2514600"/>
            <a:ext cx="109728" cy="1051560"/>
          </a:xfrm>
          <a:prstGeom prst="rect">
            <a:avLst/>
          </a:prstGeom>
          <a:solidFill>
            <a:srgbClr val="1565C0"/>
          </a:solidFill>
          <a:ln/>
        </p:spPr>
      </p:sp>
      <p:sp>
        <p:nvSpPr>
          <p:cNvPr id="16" name="Text 12"/>
          <p:cNvSpPr/>
          <p:nvPr/>
        </p:nvSpPr>
        <p:spPr>
          <a:xfrm>
            <a:off x="662940" y="2679192"/>
            <a:ext cx="5120640" cy="36576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Traffic Flow Monitoring</a:t>
            </a:r>
            <a:endParaRPr lang="en-US" sz="1400" dirty="0"/>
          </a:p>
        </p:txBody>
      </p:sp>
      <p:sp>
        <p:nvSpPr>
          <p:cNvPr id="17" name="Text 13"/>
          <p:cNvSpPr/>
          <p:nvPr/>
        </p:nvSpPr>
        <p:spPr>
          <a:xfrm>
            <a:off x="662940" y="3063240"/>
            <a:ext cx="5120640" cy="41148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Time-series data modelling for vehicle volume, average speed, congestion levels.</a:t>
            </a:r>
            <a:endParaRPr lang="en-US" sz="1200" dirty="0"/>
          </a:p>
        </p:txBody>
      </p:sp>
      <p:sp>
        <p:nvSpPr>
          <p:cNvPr id="18" name="Shape 14"/>
          <p:cNvSpPr/>
          <p:nvPr/>
        </p:nvSpPr>
        <p:spPr>
          <a:xfrm>
            <a:off x="6195060" y="2514600"/>
            <a:ext cx="5577840" cy="1051560"/>
          </a:xfrm>
          <a:prstGeom prst="rect">
            <a:avLst/>
          </a:prstGeom>
          <a:solidFill>
            <a:srgbClr val="F4F7FB"/>
          </a:solidFill>
          <a:ln/>
        </p:spPr>
      </p:sp>
      <p:sp>
        <p:nvSpPr>
          <p:cNvPr id="19" name="Shape 15"/>
          <p:cNvSpPr/>
          <p:nvPr/>
        </p:nvSpPr>
        <p:spPr>
          <a:xfrm>
            <a:off x="6195060" y="2514600"/>
            <a:ext cx="109728" cy="1051560"/>
          </a:xfrm>
          <a:prstGeom prst="rect">
            <a:avLst/>
          </a:prstGeom>
          <a:solidFill>
            <a:srgbClr val="00838F"/>
          </a:solidFill>
          <a:ln/>
        </p:spPr>
      </p:sp>
      <p:sp>
        <p:nvSpPr>
          <p:cNvPr id="20" name="Text 16"/>
          <p:cNvSpPr/>
          <p:nvPr/>
        </p:nvSpPr>
        <p:spPr>
          <a:xfrm>
            <a:off x="6469380" y="2679192"/>
            <a:ext cx="5120640" cy="36576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Transport Scheduling</a:t>
            </a:r>
            <a:endParaRPr lang="en-US" sz="1400" dirty="0"/>
          </a:p>
        </p:txBody>
      </p:sp>
      <p:sp>
        <p:nvSpPr>
          <p:cNvPr id="21" name="Text 17"/>
          <p:cNvSpPr/>
          <p:nvPr/>
        </p:nvSpPr>
        <p:spPr>
          <a:xfrm>
            <a:off x="6469380" y="3063240"/>
            <a:ext cx="5120640" cy="41148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Route–schedule–fleet relationships, delay tracking, departure/arrival modelling.</a:t>
            </a:r>
            <a:endParaRPr lang="en-US" sz="1200" dirty="0"/>
          </a:p>
        </p:txBody>
      </p:sp>
      <p:sp>
        <p:nvSpPr>
          <p:cNvPr id="22" name="Shape 18"/>
          <p:cNvSpPr/>
          <p:nvPr/>
        </p:nvSpPr>
        <p:spPr>
          <a:xfrm>
            <a:off x="388620" y="3703320"/>
            <a:ext cx="5577840" cy="1051560"/>
          </a:xfrm>
          <a:prstGeom prst="rect">
            <a:avLst/>
          </a:prstGeom>
          <a:solidFill>
            <a:srgbClr val="F4F7FB"/>
          </a:solidFill>
          <a:ln/>
        </p:spPr>
      </p:sp>
      <p:sp>
        <p:nvSpPr>
          <p:cNvPr id="23" name="Shape 19"/>
          <p:cNvSpPr/>
          <p:nvPr/>
        </p:nvSpPr>
        <p:spPr>
          <a:xfrm>
            <a:off x="388620" y="3703320"/>
            <a:ext cx="109728" cy="1051560"/>
          </a:xfrm>
          <a:prstGeom prst="rect">
            <a:avLst/>
          </a:prstGeom>
          <a:solidFill>
            <a:srgbClr val="1565C0"/>
          </a:solidFill>
          <a:ln/>
        </p:spPr>
      </p:sp>
      <p:sp>
        <p:nvSpPr>
          <p:cNvPr id="24" name="Text 20"/>
          <p:cNvSpPr/>
          <p:nvPr/>
        </p:nvSpPr>
        <p:spPr>
          <a:xfrm>
            <a:off x="662940" y="3867912"/>
            <a:ext cx="5120640" cy="36576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Compliance &amp; Audit</a:t>
            </a:r>
            <a:endParaRPr lang="en-US" sz="1400" dirty="0"/>
          </a:p>
        </p:txBody>
      </p:sp>
      <p:sp>
        <p:nvSpPr>
          <p:cNvPr id="25" name="Text 21"/>
          <p:cNvSpPr/>
          <p:nvPr/>
        </p:nvSpPr>
        <p:spPr>
          <a:xfrm>
            <a:off x="662940" y="4251960"/>
            <a:ext cx="5120640" cy="41148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Audit scope definition, finding categorisation, traceable compliance records.</a:t>
            </a:r>
            <a:endParaRPr lang="en-US" sz="1200" dirty="0"/>
          </a:p>
        </p:txBody>
      </p:sp>
      <p:sp>
        <p:nvSpPr>
          <p:cNvPr id="26" name="Shape 22"/>
          <p:cNvSpPr/>
          <p:nvPr/>
        </p:nvSpPr>
        <p:spPr>
          <a:xfrm>
            <a:off x="6195060" y="3703320"/>
            <a:ext cx="5577840" cy="1051560"/>
          </a:xfrm>
          <a:prstGeom prst="rect">
            <a:avLst/>
          </a:prstGeom>
          <a:solidFill>
            <a:srgbClr val="F4F7FB"/>
          </a:solidFill>
          <a:ln/>
        </p:spPr>
      </p:sp>
      <p:sp>
        <p:nvSpPr>
          <p:cNvPr id="27" name="Shape 23"/>
          <p:cNvSpPr/>
          <p:nvPr/>
        </p:nvSpPr>
        <p:spPr>
          <a:xfrm>
            <a:off x="6195060" y="3703320"/>
            <a:ext cx="109728" cy="1051560"/>
          </a:xfrm>
          <a:prstGeom prst="rect">
            <a:avLst/>
          </a:prstGeom>
          <a:solidFill>
            <a:srgbClr val="00838F"/>
          </a:solidFill>
          <a:ln/>
        </p:spPr>
      </p:sp>
      <p:sp>
        <p:nvSpPr>
          <p:cNvPr id="28" name="Text 24"/>
          <p:cNvSpPr/>
          <p:nvPr/>
        </p:nvSpPr>
        <p:spPr>
          <a:xfrm>
            <a:off x="6469380" y="3867912"/>
            <a:ext cx="5120640" cy="36576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Reporting &amp; Analytics</a:t>
            </a:r>
            <a:endParaRPr lang="en-US" sz="1400" dirty="0"/>
          </a:p>
        </p:txBody>
      </p:sp>
      <p:sp>
        <p:nvSpPr>
          <p:cNvPr id="29" name="Text 25"/>
          <p:cNvSpPr/>
          <p:nvPr/>
        </p:nvSpPr>
        <p:spPr>
          <a:xfrm>
            <a:off x="6469380" y="4251960"/>
            <a:ext cx="5120640" cy="41148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KPI design — incident response time, transport punctuality, compliance adherence.</a:t>
            </a:r>
            <a:endParaRPr lang="en-US" sz="1200" dirty="0"/>
          </a:p>
        </p:txBody>
      </p:sp>
      <p:sp>
        <p:nvSpPr>
          <p:cNvPr id="30" name="Shape 26"/>
          <p:cNvSpPr/>
          <p:nvPr/>
        </p:nvSpPr>
        <p:spPr>
          <a:xfrm>
            <a:off x="388620" y="4892040"/>
            <a:ext cx="5577840" cy="1051560"/>
          </a:xfrm>
          <a:prstGeom prst="rect">
            <a:avLst/>
          </a:prstGeom>
          <a:solidFill>
            <a:srgbClr val="F4F7FB"/>
          </a:solidFill>
          <a:ln/>
        </p:spPr>
      </p:sp>
      <p:sp>
        <p:nvSpPr>
          <p:cNvPr id="31" name="Shape 27"/>
          <p:cNvSpPr/>
          <p:nvPr/>
        </p:nvSpPr>
        <p:spPr>
          <a:xfrm>
            <a:off x="388620" y="4892040"/>
            <a:ext cx="109728" cy="1051560"/>
          </a:xfrm>
          <a:prstGeom prst="rect">
            <a:avLst/>
          </a:prstGeom>
          <a:solidFill>
            <a:srgbClr val="1565C0"/>
          </a:solidFill>
          <a:ln/>
        </p:spPr>
      </p:sp>
      <p:sp>
        <p:nvSpPr>
          <p:cNvPr id="32" name="Text 28"/>
          <p:cNvSpPr/>
          <p:nvPr/>
        </p:nvSpPr>
        <p:spPr>
          <a:xfrm>
            <a:off x="662940" y="5056632"/>
            <a:ext cx="5120640" cy="36576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Notifications</a:t>
            </a:r>
            <a:endParaRPr lang="en-US" sz="1400" dirty="0"/>
          </a:p>
        </p:txBody>
      </p:sp>
      <p:sp>
        <p:nvSpPr>
          <p:cNvPr id="33" name="Text 29"/>
          <p:cNvSpPr/>
          <p:nvPr/>
        </p:nvSpPr>
        <p:spPr>
          <a:xfrm>
            <a:off x="662940" y="5440680"/>
            <a:ext cx="5120640" cy="41148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Multi-channel delivery (in-app/SMS/email), category-based routing, status tracking.</a:t>
            </a:r>
            <a:endParaRPr lang="en-US" sz="1200" dirty="0"/>
          </a:p>
        </p:txBody>
      </p:sp>
      <p:sp>
        <p:nvSpPr>
          <p:cNvPr id="34" name="Text 30"/>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35" name="Text 31"/>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Practical Applications</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Shape 2"/>
          <p:cNvSpPr/>
          <p:nvPr/>
        </p:nvSpPr>
        <p:spPr>
          <a:xfrm>
            <a:off x="342900" y="1417320"/>
            <a:ext cx="3703320" cy="2148840"/>
          </a:xfrm>
          <a:prstGeom prst="rect">
            <a:avLst/>
          </a:prstGeom>
          <a:solidFill>
            <a:srgbClr val="FFFFFF"/>
          </a:solidFill>
          <a:ln w="9525">
            <a:solidFill>
              <a:srgbClr val="E2E8F0"/>
            </a:solidFill>
            <a:prstDash val="solid"/>
          </a:ln>
        </p:spPr>
      </p:sp>
      <p:sp>
        <p:nvSpPr>
          <p:cNvPr id="7" name="Shape 3"/>
          <p:cNvSpPr/>
          <p:nvPr/>
        </p:nvSpPr>
        <p:spPr>
          <a:xfrm>
            <a:off x="342900" y="1417320"/>
            <a:ext cx="3703320" cy="594360"/>
          </a:xfrm>
          <a:prstGeom prst="rect">
            <a:avLst/>
          </a:prstGeom>
          <a:solidFill>
            <a:srgbClr val="0B2A4A"/>
          </a:solidFill>
          <a:ln/>
        </p:spPr>
      </p:sp>
      <p:sp>
        <p:nvSpPr>
          <p:cNvPr id="8" name="Text 4"/>
          <p:cNvSpPr/>
          <p:nvPr/>
        </p:nvSpPr>
        <p:spPr>
          <a:xfrm>
            <a:off x="525780" y="1417320"/>
            <a:ext cx="3337560" cy="5943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Citizen Portal</a:t>
            </a:r>
            <a:endParaRPr lang="en-US" sz="1500" dirty="0"/>
          </a:p>
        </p:txBody>
      </p:sp>
      <p:sp>
        <p:nvSpPr>
          <p:cNvPr id="9" name="Text 5"/>
          <p:cNvSpPr/>
          <p:nvPr/>
        </p:nvSpPr>
        <p:spPr>
          <a:xfrm>
            <a:off x="571500" y="2194560"/>
            <a:ext cx="324612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Real-time traffic updates, incident reporting, public transport schedule lookup.</a:t>
            </a:r>
            <a:endParaRPr lang="en-US" sz="1200" dirty="0"/>
          </a:p>
        </p:txBody>
      </p:sp>
      <p:sp>
        <p:nvSpPr>
          <p:cNvPr id="10" name="Shape 6"/>
          <p:cNvSpPr/>
          <p:nvPr/>
        </p:nvSpPr>
        <p:spPr>
          <a:xfrm>
            <a:off x="4229100" y="1417320"/>
            <a:ext cx="3703320" cy="2148840"/>
          </a:xfrm>
          <a:prstGeom prst="rect">
            <a:avLst/>
          </a:prstGeom>
          <a:solidFill>
            <a:srgbClr val="FFFFFF"/>
          </a:solidFill>
          <a:ln w="9525">
            <a:solidFill>
              <a:srgbClr val="E2E8F0"/>
            </a:solidFill>
            <a:prstDash val="solid"/>
          </a:ln>
        </p:spPr>
      </p:sp>
      <p:sp>
        <p:nvSpPr>
          <p:cNvPr id="11" name="Shape 7"/>
          <p:cNvSpPr/>
          <p:nvPr/>
        </p:nvSpPr>
        <p:spPr>
          <a:xfrm>
            <a:off x="4229100" y="1417320"/>
            <a:ext cx="3703320" cy="594360"/>
          </a:xfrm>
          <a:prstGeom prst="rect">
            <a:avLst/>
          </a:prstGeom>
          <a:solidFill>
            <a:srgbClr val="00838F"/>
          </a:solidFill>
          <a:ln/>
        </p:spPr>
      </p:sp>
      <p:sp>
        <p:nvSpPr>
          <p:cNvPr id="12" name="Text 8"/>
          <p:cNvSpPr/>
          <p:nvPr/>
        </p:nvSpPr>
        <p:spPr>
          <a:xfrm>
            <a:off x="4411980" y="1417320"/>
            <a:ext cx="3337560" cy="5943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Traffic Officer Console</a:t>
            </a:r>
            <a:endParaRPr lang="en-US" sz="1500" dirty="0"/>
          </a:p>
        </p:txBody>
      </p:sp>
      <p:sp>
        <p:nvSpPr>
          <p:cNvPr id="13" name="Text 9"/>
          <p:cNvSpPr/>
          <p:nvPr/>
        </p:nvSpPr>
        <p:spPr>
          <a:xfrm>
            <a:off x="4457700" y="2194560"/>
            <a:ext cx="324612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Manage live incidents on city roads, update road conditions, enforce compliance.</a:t>
            </a:r>
            <a:endParaRPr lang="en-US" sz="1200" dirty="0"/>
          </a:p>
        </p:txBody>
      </p:sp>
      <p:sp>
        <p:nvSpPr>
          <p:cNvPr id="14" name="Shape 10"/>
          <p:cNvSpPr/>
          <p:nvPr/>
        </p:nvSpPr>
        <p:spPr>
          <a:xfrm>
            <a:off x="8115300" y="1417320"/>
            <a:ext cx="3703320" cy="2148840"/>
          </a:xfrm>
          <a:prstGeom prst="rect">
            <a:avLst/>
          </a:prstGeom>
          <a:solidFill>
            <a:srgbClr val="FFFFFF"/>
          </a:solidFill>
          <a:ln w="9525">
            <a:solidFill>
              <a:srgbClr val="E2E8F0"/>
            </a:solidFill>
            <a:prstDash val="solid"/>
          </a:ln>
        </p:spPr>
      </p:sp>
      <p:sp>
        <p:nvSpPr>
          <p:cNvPr id="15" name="Shape 11"/>
          <p:cNvSpPr/>
          <p:nvPr/>
        </p:nvSpPr>
        <p:spPr>
          <a:xfrm>
            <a:off x="8115300" y="1417320"/>
            <a:ext cx="3703320" cy="594360"/>
          </a:xfrm>
          <a:prstGeom prst="rect">
            <a:avLst/>
          </a:prstGeom>
          <a:solidFill>
            <a:srgbClr val="0B2A4A"/>
          </a:solidFill>
          <a:ln/>
        </p:spPr>
      </p:sp>
      <p:sp>
        <p:nvSpPr>
          <p:cNvPr id="16" name="Text 12"/>
          <p:cNvSpPr/>
          <p:nvPr/>
        </p:nvSpPr>
        <p:spPr>
          <a:xfrm>
            <a:off x="8298180" y="1417320"/>
            <a:ext cx="3337560" cy="5943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Transport Operator</a:t>
            </a:r>
            <a:endParaRPr lang="en-US" sz="1500" dirty="0"/>
          </a:p>
        </p:txBody>
      </p:sp>
      <p:sp>
        <p:nvSpPr>
          <p:cNvPr id="17" name="Text 13"/>
          <p:cNvSpPr/>
          <p:nvPr/>
        </p:nvSpPr>
        <p:spPr>
          <a:xfrm>
            <a:off x="8343900" y="2194560"/>
            <a:ext cx="324612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Manage bus/train routes, schedules and fleet; track delays and capacity.</a:t>
            </a:r>
            <a:endParaRPr lang="en-US" sz="1200" dirty="0"/>
          </a:p>
        </p:txBody>
      </p:sp>
      <p:sp>
        <p:nvSpPr>
          <p:cNvPr id="18" name="Shape 14"/>
          <p:cNvSpPr/>
          <p:nvPr/>
        </p:nvSpPr>
        <p:spPr>
          <a:xfrm>
            <a:off x="342900" y="3794760"/>
            <a:ext cx="3703320" cy="2148840"/>
          </a:xfrm>
          <a:prstGeom prst="rect">
            <a:avLst/>
          </a:prstGeom>
          <a:solidFill>
            <a:srgbClr val="FFFFFF"/>
          </a:solidFill>
          <a:ln w="9525">
            <a:solidFill>
              <a:srgbClr val="E2E8F0"/>
            </a:solidFill>
            <a:prstDash val="solid"/>
          </a:ln>
        </p:spPr>
      </p:sp>
      <p:sp>
        <p:nvSpPr>
          <p:cNvPr id="19" name="Shape 15"/>
          <p:cNvSpPr/>
          <p:nvPr/>
        </p:nvSpPr>
        <p:spPr>
          <a:xfrm>
            <a:off x="342900" y="3794760"/>
            <a:ext cx="3703320" cy="594360"/>
          </a:xfrm>
          <a:prstGeom prst="rect">
            <a:avLst/>
          </a:prstGeom>
          <a:solidFill>
            <a:srgbClr val="00838F"/>
          </a:solidFill>
          <a:ln/>
        </p:spPr>
      </p:sp>
      <p:sp>
        <p:nvSpPr>
          <p:cNvPr id="20" name="Text 16"/>
          <p:cNvSpPr/>
          <p:nvPr/>
        </p:nvSpPr>
        <p:spPr>
          <a:xfrm>
            <a:off x="525780" y="3794760"/>
            <a:ext cx="3337560" cy="5943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City Administrator</a:t>
            </a:r>
            <a:endParaRPr lang="en-US" sz="1500" dirty="0"/>
          </a:p>
        </p:txBody>
      </p:sp>
      <p:sp>
        <p:nvSpPr>
          <p:cNvPr id="21" name="Text 17"/>
          <p:cNvSpPr/>
          <p:nvPr/>
        </p:nvSpPr>
        <p:spPr>
          <a:xfrm>
            <a:off x="571500" y="4572000"/>
            <a:ext cx="324612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Monitor city-wide KPIs, transport metrics, compliance status across agencies.</a:t>
            </a:r>
            <a:endParaRPr lang="en-US" sz="1200" dirty="0"/>
          </a:p>
        </p:txBody>
      </p:sp>
      <p:sp>
        <p:nvSpPr>
          <p:cNvPr id="22" name="Shape 18"/>
          <p:cNvSpPr/>
          <p:nvPr/>
        </p:nvSpPr>
        <p:spPr>
          <a:xfrm>
            <a:off x="4229100" y="3794760"/>
            <a:ext cx="3703320" cy="2148840"/>
          </a:xfrm>
          <a:prstGeom prst="rect">
            <a:avLst/>
          </a:prstGeom>
          <a:solidFill>
            <a:srgbClr val="FFFFFF"/>
          </a:solidFill>
          <a:ln w="9525">
            <a:solidFill>
              <a:srgbClr val="E2E8F0"/>
            </a:solidFill>
            <a:prstDash val="solid"/>
          </a:ln>
        </p:spPr>
      </p:sp>
      <p:sp>
        <p:nvSpPr>
          <p:cNvPr id="23" name="Shape 19"/>
          <p:cNvSpPr/>
          <p:nvPr/>
        </p:nvSpPr>
        <p:spPr>
          <a:xfrm>
            <a:off x="4229100" y="3794760"/>
            <a:ext cx="3703320" cy="594360"/>
          </a:xfrm>
          <a:prstGeom prst="rect">
            <a:avLst/>
          </a:prstGeom>
          <a:solidFill>
            <a:srgbClr val="0B2A4A"/>
          </a:solidFill>
          <a:ln/>
        </p:spPr>
      </p:sp>
      <p:sp>
        <p:nvSpPr>
          <p:cNvPr id="24" name="Text 20"/>
          <p:cNvSpPr/>
          <p:nvPr/>
        </p:nvSpPr>
        <p:spPr>
          <a:xfrm>
            <a:off x="4411980" y="3794760"/>
            <a:ext cx="3337560" cy="5943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Compliance Officer</a:t>
            </a:r>
            <a:endParaRPr lang="en-US" sz="1500" dirty="0"/>
          </a:p>
        </p:txBody>
      </p:sp>
      <p:sp>
        <p:nvSpPr>
          <p:cNvPr id="25" name="Text 21"/>
          <p:cNvSpPr/>
          <p:nvPr/>
        </p:nvSpPr>
        <p:spPr>
          <a:xfrm>
            <a:off x="4457700" y="4572000"/>
            <a:ext cx="324612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Conduct audits of incident handling and transport operations against policies.</a:t>
            </a:r>
            <a:endParaRPr lang="en-US" sz="1200" dirty="0"/>
          </a:p>
        </p:txBody>
      </p:sp>
      <p:sp>
        <p:nvSpPr>
          <p:cNvPr id="26" name="Shape 22"/>
          <p:cNvSpPr/>
          <p:nvPr/>
        </p:nvSpPr>
        <p:spPr>
          <a:xfrm>
            <a:off x="8115300" y="3794760"/>
            <a:ext cx="3703320" cy="2148840"/>
          </a:xfrm>
          <a:prstGeom prst="rect">
            <a:avLst/>
          </a:prstGeom>
          <a:solidFill>
            <a:srgbClr val="FFFFFF"/>
          </a:solidFill>
          <a:ln w="9525">
            <a:solidFill>
              <a:srgbClr val="E2E8F0"/>
            </a:solidFill>
            <a:prstDash val="solid"/>
          </a:ln>
        </p:spPr>
      </p:sp>
      <p:sp>
        <p:nvSpPr>
          <p:cNvPr id="27" name="Shape 23"/>
          <p:cNvSpPr/>
          <p:nvPr/>
        </p:nvSpPr>
        <p:spPr>
          <a:xfrm>
            <a:off x="8115300" y="3794760"/>
            <a:ext cx="3703320" cy="594360"/>
          </a:xfrm>
          <a:prstGeom prst="rect">
            <a:avLst/>
          </a:prstGeom>
          <a:solidFill>
            <a:srgbClr val="00838F"/>
          </a:solidFill>
          <a:ln/>
        </p:spPr>
      </p:sp>
      <p:sp>
        <p:nvSpPr>
          <p:cNvPr id="28" name="Text 24"/>
          <p:cNvSpPr/>
          <p:nvPr/>
        </p:nvSpPr>
        <p:spPr>
          <a:xfrm>
            <a:off x="8298180" y="3794760"/>
            <a:ext cx="3337560" cy="5943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Emergency Response</a:t>
            </a:r>
            <a:endParaRPr lang="en-US" sz="1500" dirty="0"/>
          </a:p>
        </p:txBody>
      </p:sp>
      <p:sp>
        <p:nvSpPr>
          <p:cNvPr id="29" name="Text 25"/>
          <p:cNvSpPr/>
          <p:nvPr/>
        </p:nvSpPr>
        <p:spPr>
          <a:xfrm>
            <a:off x="8343900" y="4572000"/>
            <a:ext cx="324612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Faster routing of officers to incidents through alerts and dashboards.</a:t>
            </a:r>
            <a:endParaRPr lang="en-US" sz="1200" dirty="0"/>
          </a:p>
        </p:txBody>
      </p:sp>
      <p:sp>
        <p:nvSpPr>
          <p:cNvPr id="30" name="Text 26"/>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31" name="Text 27"/>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Internship Activities</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Shape 2"/>
          <p:cNvSpPr/>
          <p:nvPr/>
        </p:nvSpPr>
        <p:spPr>
          <a:xfrm>
            <a:off x="1371600" y="1508760"/>
            <a:ext cx="54864" cy="4572000"/>
          </a:xfrm>
          <a:prstGeom prst="rect">
            <a:avLst/>
          </a:prstGeom>
          <a:solidFill>
            <a:srgbClr val="1565C0"/>
          </a:solidFill>
          <a:ln/>
        </p:spPr>
      </p:sp>
      <p:sp>
        <p:nvSpPr>
          <p:cNvPr id="7" name="Shape 3"/>
          <p:cNvSpPr/>
          <p:nvPr/>
        </p:nvSpPr>
        <p:spPr>
          <a:xfrm>
            <a:off x="1216152" y="1645920"/>
            <a:ext cx="365760" cy="365760"/>
          </a:xfrm>
          <a:prstGeom prst="ellipse">
            <a:avLst/>
          </a:prstGeom>
          <a:solidFill>
            <a:srgbClr val="FFA000"/>
          </a:solidFill>
          <a:ln w="25400">
            <a:solidFill>
              <a:srgbClr val="FFFFFF"/>
            </a:solidFill>
            <a:prstDash val="solid"/>
          </a:ln>
        </p:spPr>
      </p:sp>
      <p:sp>
        <p:nvSpPr>
          <p:cNvPr id="8" name="Text 4"/>
          <p:cNvSpPr/>
          <p:nvPr/>
        </p:nvSpPr>
        <p:spPr>
          <a:xfrm>
            <a:off x="45720" y="1691640"/>
            <a:ext cx="1097280" cy="274320"/>
          </a:xfrm>
          <a:prstGeom prst="rect">
            <a:avLst/>
          </a:prstGeom>
          <a:noFill/>
          <a:ln/>
        </p:spPr>
        <p:txBody>
          <a:bodyPr wrap="square" lIns="0" tIns="0" rIns="0" bIns="0" rtlCol="0" anchor="ctr"/>
          <a:lstStyle/>
          <a:p>
            <a:pPr algn="r" indent="0" marL="0">
              <a:buNone/>
            </a:pPr>
            <a:r>
              <a:rPr lang="en-US" sz="1200" b="1" dirty="0">
                <a:solidFill>
                  <a:srgbClr val="0B2A4A"/>
                </a:solidFill>
                <a:latin typeface="Calibri" pitchFamily="34" charset="0"/>
                <a:ea typeface="Calibri" pitchFamily="34" charset="-122"/>
                <a:cs typeface="Calibri" pitchFamily="34" charset="-120"/>
              </a:rPr>
              <a:t>Week 1-2</a:t>
            </a:r>
            <a:endParaRPr lang="en-US" sz="1200" dirty="0"/>
          </a:p>
        </p:txBody>
      </p:sp>
      <p:sp>
        <p:nvSpPr>
          <p:cNvPr id="9" name="Shape 5"/>
          <p:cNvSpPr/>
          <p:nvPr/>
        </p:nvSpPr>
        <p:spPr>
          <a:xfrm>
            <a:off x="1828800" y="1554480"/>
            <a:ext cx="9601200" cy="777240"/>
          </a:xfrm>
          <a:prstGeom prst="rect">
            <a:avLst/>
          </a:prstGeom>
          <a:solidFill>
            <a:srgbClr val="F4F7FB"/>
          </a:solidFill>
          <a:ln/>
        </p:spPr>
      </p:sp>
      <p:sp>
        <p:nvSpPr>
          <p:cNvPr id="10" name="Text 6"/>
          <p:cNvSpPr/>
          <p:nvPr/>
        </p:nvSpPr>
        <p:spPr>
          <a:xfrm>
            <a:off x="2011680" y="1600200"/>
            <a:ext cx="9235440" cy="32004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Onboarding &amp; Requirements</a:t>
            </a:r>
            <a:endParaRPr lang="en-US" sz="1400" dirty="0"/>
          </a:p>
        </p:txBody>
      </p:sp>
      <p:sp>
        <p:nvSpPr>
          <p:cNvPr id="11" name="Text 7"/>
          <p:cNvSpPr/>
          <p:nvPr/>
        </p:nvSpPr>
        <p:spPr>
          <a:xfrm>
            <a:off x="2011680" y="1920240"/>
            <a:ext cx="923544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Studied project SRS, transport-domain workflows, stakeholder roles.</a:t>
            </a:r>
            <a:endParaRPr lang="en-US" sz="1100" dirty="0"/>
          </a:p>
        </p:txBody>
      </p:sp>
      <p:sp>
        <p:nvSpPr>
          <p:cNvPr id="12" name="Shape 8"/>
          <p:cNvSpPr/>
          <p:nvPr/>
        </p:nvSpPr>
        <p:spPr>
          <a:xfrm>
            <a:off x="1216152" y="2560320"/>
            <a:ext cx="365760" cy="365760"/>
          </a:xfrm>
          <a:prstGeom prst="ellipse">
            <a:avLst/>
          </a:prstGeom>
          <a:solidFill>
            <a:srgbClr val="FFA000"/>
          </a:solidFill>
          <a:ln w="25400">
            <a:solidFill>
              <a:srgbClr val="FFFFFF"/>
            </a:solidFill>
            <a:prstDash val="solid"/>
          </a:ln>
        </p:spPr>
      </p:sp>
      <p:sp>
        <p:nvSpPr>
          <p:cNvPr id="13" name="Text 9"/>
          <p:cNvSpPr/>
          <p:nvPr/>
        </p:nvSpPr>
        <p:spPr>
          <a:xfrm>
            <a:off x="45720" y="2606040"/>
            <a:ext cx="1097280" cy="274320"/>
          </a:xfrm>
          <a:prstGeom prst="rect">
            <a:avLst/>
          </a:prstGeom>
          <a:noFill/>
          <a:ln/>
        </p:spPr>
        <p:txBody>
          <a:bodyPr wrap="square" lIns="0" tIns="0" rIns="0" bIns="0" rtlCol="0" anchor="ctr"/>
          <a:lstStyle/>
          <a:p>
            <a:pPr algn="r" indent="0" marL="0">
              <a:buNone/>
            </a:pPr>
            <a:r>
              <a:rPr lang="en-US" sz="1200" b="1" dirty="0">
                <a:solidFill>
                  <a:srgbClr val="0B2A4A"/>
                </a:solidFill>
                <a:latin typeface="Calibri" pitchFamily="34" charset="0"/>
                <a:ea typeface="Calibri" pitchFamily="34" charset="-122"/>
                <a:cs typeface="Calibri" pitchFamily="34" charset="-120"/>
              </a:rPr>
              <a:t>Week 3-4</a:t>
            </a:r>
            <a:endParaRPr lang="en-US" sz="1200" dirty="0"/>
          </a:p>
        </p:txBody>
      </p:sp>
      <p:sp>
        <p:nvSpPr>
          <p:cNvPr id="14" name="Shape 10"/>
          <p:cNvSpPr/>
          <p:nvPr/>
        </p:nvSpPr>
        <p:spPr>
          <a:xfrm>
            <a:off x="1828800" y="2468880"/>
            <a:ext cx="9601200" cy="777240"/>
          </a:xfrm>
          <a:prstGeom prst="rect">
            <a:avLst/>
          </a:prstGeom>
          <a:solidFill>
            <a:srgbClr val="F4F7FB"/>
          </a:solidFill>
          <a:ln/>
        </p:spPr>
      </p:sp>
      <p:sp>
        <p:nvSpPr>
          <p:cNvPr id="15" name="Text 11"/>
          <p:cNvSpPr/>
          <p:nvPr/>
        </p:nvSpPr>
        <p:spPr>
          <a:xfrm>
            <a:off x="2011680" y="2514600"/>
            <a:ext cx="9235440" cy="32004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Design &amp; Architecture</a:t>
            </a:r>
            <a:endParaRPr lang="en-US" sz="1400" dirty="0"/>
          </a:p>
        </p:txBody>
      </p:sp>
      <p:sp>
        <p:nvSpPr>
          <p:cNvPr id="16" name="Text 12"/>
          <p:cNvSpPr/>
          <p:nvPr/>
        </p:nvSpPr>
        <p:spPr>
          <a:xfrm>
            <a:off x="2011680" y="2834640"/>
            <a:ext cx="923544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Designed ER diagrams, REST APIs, and microservice boundaries.</a:t>
            </a:r>
            <a:endParaRPr lang="en-US" sz="1100" dirty="0"/>
          </a:p>
        </p:txBody>
      </p:sp>
      <p:sp>
        <p:nvSpPr>
          <p:cNvPr id="17" name="Shape 13"/>
          <p:cNvSpPr/>
          <p:nvPr/>
        </p:nvSpPr>
        <p:spPr>
          <a:xfrm>
            <a:off x="1216152" y="3474720"/>
            <a:ext cx="365760" cy="365760"/>
          </a:xfrm>
          <a:prstGeom prst="ellipse">
            <a:avLst/>
          </a:prstGeom>
          <a:solidFill>
            <a:srgbClr val="FFA000"/>
          </a:solidFill>
          <a:ln w="25400">
            <a:solidFill>
              <a:srgbClr val="FFFFFF"/>
            </a:solidFill>
            <a:prstDash val="solid"/>
          </a:ln>
        </p:spPr>
      </p:sp>
      <p:sp>
        <p:nvSpPr>
          <p:cNvPr id="18" name="Text 14"/>
          <p:cNvSpPr/>
          <p:nvPr/>
        </p:nvSpPr>
        <p:spPr>
          <a:xfrm>
            <a:off x="45720" y="3520440"/>
            <a:ext cx="1097280" cy="274320"/>
          </a:xfrm>
          <a:prstGeom prst="rect">
            <a:avLst/>
          </a:prstGeom>
          <a:noFill/>
          <a:ln/>
        </p:spPr>
        <p:txBody>
          <a:bodyPr wrap="square" lIns="0" tIns="0" rIns="0" bIns="0" rtlCol="0" anchor="ctr"/>
          <a:lstStyle/>
          <a:p>
            <a:pPr algn="r" indent="0" marL="0">
              <a:buNone/>
            </a:pPr>
            <a:r>
              <a:rPr lang="en-US" sz="1200" b="1" dirty="0">
                <a:solidFill>
                  <a:srgbClr val="0B2A4A"/>
                </a:solidFill>
                <a:latin typeface="Calibri" pitchFamily="34" charset="0"/>
                <a:ea typeface="Calibri" pitchFamily="34" charset="-122"/>
                <a:cs typeface="Calibri" pitchFamily="34" charset="-120"/>
              </a:rPr>
              <a:t>Week 5-7</a:t>
            </a:r>
            <a:endParaRPr lang="en-US" sz="1200" dirty="0"/>
          </a:p>
        </p:txBody>
      </p:sp>
      <p:sp>
        <p:nvSpPr>
          <p:cNvPr id="19" name="Shape 15"/>
          <p:cNvSpPr/>
          <p:nvPr/>
        </p:nvSpPr>
        <p:spPr>
          <a:xfrm>
            <a:off x="1828800" y="3383280"/>
            <a:ext cx="9601200" cy="777240"/>
          </a:xfrm>
          <a:prstGeom prst="rect">
            <a:avLst/>
          </a:prstGeom>
          <a:solidFill>
            <a:srgbClr val="F4F7FB"/>
          </a:solidFill>
          <a:ln/>
        </p:spPr>
      </p:sp>
      <p:sp>
        <p:nvSpPr>
          <p:cNvPr id="20" name="Text 16"/>
          <p:cNvSpPr/>
          <p:nvPr/>
        </p:nvSpPr>
        <p:spPr>
          <a:xfrm>
            <a:off x="2011680" y="3429000"/>
            <a:ext cx="9235440" cy="32004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Backend Development</a:t>
            </a:r>
            <a:endParaRPr lang="en-US" sz="1400" dirty="0"/>
          </a:p>
        </p:txBody>
      </p:sp>
      <p:sp>
        <p:nvSpPr>
          <p:cNvPr id="21" name="Text 17"/>
          <p:cNvSpPr/>
          <p:nvPr/>
        </p:nvSpPr>
        <p:spPr>
          <a:xfrm>
            <a:off x="2011680" y="3749040"/>
            <a:ext cx="923544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Built Identity, Incident, and Transport modules with REST endpoints.</a:t>
            </a:r>
            <a:endParaRPr lang="en-US" sz="1100" dirty="0"/>
          </a:p>
        </p:txBody>
      </p:sp>
      <p:sp>
        <p:nvSpPr>
          <p:cNvPr id="22" name="Shape 18"/>
          <p:cNvSpPr/>
          <p:nvPr/>
        </p:nvSpPr>
        <p:spPr>
          <a:xfrm>
            <a:off x="1216152" y="4389120"/>
            <a:ext cx="365760" cy="365760"/>
          </a:xfrm>
          <a:prstGeom prst="ellipse">
            <a:avLst/>
          </a:prstGeom>
          <a:solidFill>
            <a:srgbClr val="FFA000"/>
          </a:solidFill>
          <a:ln w="25400">
            <a:solidFill>
              <a:srgbClr val="FFFFFF"/>
            </a:solidFill>
            <a:prstDash val="solid"/>
          </a:ln>
        </p:spPr>
      </p:sp>
      <p:sp>
        <p:nvSpPr>
          <p:cNvPr id="23" name="Text 19"/>
          <p:cNvSpPr/>
          <p:nvPr/>
        </p:nvSpPr>
        <p:spPr>
          <a:xfrm>
            <a:off x="45720" y="4434840"/>
            <a:ext cx="1097280" cy="274320"/>
          </a:xfrm>
          <a:prstGeom prst="rect">
            <a:avLst/>
          </a:prstGeom>
          <a:noFill/>
          <a:ln/>
        </p:spPr>
        <p:txBody>
          <a:bodyPr wrap="square" lIns="0" tIns="0" rIns="0" bIns="0" rtlCol="0" anchor="ctr"/>
          <a:lstStyle/>
          <a:p>
            <a:pPr algn="r" indent="0" marL="0">
              <a:buNone/>
            </a:pPr>
            <a:r>
              <a:rPr lang="en-US" sz="1200" b="1" dirty="0">
                <a:solidFill>
                  <a:srgbClr val="0B2A4A"/>
                </a:solidFill>
                <a:latin typeface="Calibri" pitchFamily="34" charset="0"/>
                <a:ea typeface="Calibri" pitchFamily="34" charset="-122"/>
                <a:cs typeface="Calibri" pitchFamily="34" charset="-120"/>
              </a:rPr>
              <a:t>Week 8-9</a:t>
            </a:r>
            <a:endParaRPr lang="en-US" sz="1200" dirty="0"/>
          </a:p>
        </p:txBody>
      </p:sp>
      <p:sp>
        <p:nvSpPr>
          <p:cNvPr id="24" name="Shape 20"/>
          <p:cNvSpPr/>
          <p:nvPr/>
        </p:nvSpPr>
        <p:spPr>
          <a:xfrm>
            <a:off x="1828800" y="4297680"/>
            <a:ext cx="9601200" cy="777240"/>
          </a:xfrm>
          <a:prstGeom prst="rect">
            <a:avLst/>
          </a:prstGeom>
          <a:solidFill>
            <a:srgbClr val="F4F7FB"/>
          </a:solidFill>
          <a:ln/>
        </p:spPr>
      </p:sp>
      <p:sp>
        <p:nvSpPr>
          <p:cNvPr id="25" name="Text 21"/>
          <p:cNvSpPr/>
          <p:nvPr/>
        </p:nvSpPr>
        <p:spPr>
          <a:xfrm>
            <a:off x="2011680" y="4343400"/>
            <a:ext cx="9235440" cy="32004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Frontend &amp; Integration</a:t>
            </a:r>
            <a:endParaRPr lang="en-US" sz="1400" dirty="0"/>
          </a:p>
        </p:txBody>
      </p:sp>
      <p:sp>
        <p:nvSpPr>
          <p:cNvPr id="26" name="Text 22"/>
          <p:cNvSpPr/>
          <p:nvPr/>
        </p:nvSpPr>
        <p:spPr>
          <a:xfrm>
            <a:off x="2011680" y="4663440"/>
            <a:ext cx="923544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Implemented dashboards in Angular/React; integrated with backend APIs.</a:t>
            </a:r>
            <a:endParaRPr lang="en-US" sz="1100" dirty="0"/>
          </a:p>
        </p:txBody>
      </p:sp>
      <p:sp>
        <p:nvSpPr>
          <p:cNvPr id="27" name="Shape 23"/>
          <p:cNvSpPr/>
          <p:nvPr/>
        </p:nvSpPr>
        <p:spPr>
          <a:xfrm>
            <a:off x="1216152" y="5303520"/>
            <a:ext cx="365760" cy="365760"/>
          </a:xfrm>
          <a:prstGeom prst="ellipse">
            <a:avLst/>
          </a:prstGeom>
          <a:solidFill>
            <a:srgbClr val="FFA000"/>
          </a:solidFill>
          <a:ln w="25400">
            <a:solidFill>
              <a:srgbClr val="FFFFFF"/>
            </a:solidFill>
            <a:prstDash val="solid"/>
          </a:ln>
        </p:spPr>
      </p:sp>
      <p:sp>
        <p:nvSpPr>
          <p:cNvPr id="28" name="Text 24"/>
          <p:cNvSpPr/>
          <p:nvPr/>
        </p:nvSpPr>
        <p:spPr>
          <a:xfrm>
            <a:off x="45720" y="5349240"/>
            <a:ext cx="1097280" cy="274320"/>
          </a:xfrm>
          <a:prstGeom prst="rect">
            <a:avLst/>
          </a:prstGeom>
          <a:noFill/>
          <a:ln/>
        </p:spPr>
        <p:txBody>
          <a:bodyPr wrap="square" lIns="0" tIns="0" rIns="0" bIns="0" rtlCol="0" anchor="ctr"/>
          <a:lstStyle/>
          <a:p>
            <a:pPr algn="r" indent="0" marL="0">
              <a:buNone/>
            </a:pPr>
            <a:r>
              <a:rPr lang="en-US" sz="1200" b="1" dirty="0">
                <a:solidFill>
                  <a:srgbClr val="0B2A4A"/>
                </a:solidFill>
                <a:latin typeface="Calibri" pitchFamily="34" charset="0"/>
                <a:ea typeface="Calibri" pitchFamily="34" charset="-122"/>
                <a:cs typeface="Calibri" pitchFamily="34" charset="-120"/>
              </a:rPr>
              <a:t>Week 10</a:t>
            </a:r>
            <a:endParaRPr lang="en-US" sz="1200" dirty="0"/>
          </a:p>
        </p:txBody>
      </p:sp>
      <p:sp>
        <p:nvSpPr>
          <p:cNvPr id="29" name="Shape 25"/>
          <p:cNvSpPr/>
          <p:nvPr/>
        </p:nvSpPr>
        <p:spPr>
          <a:xfrm>
            <a:off x="1828800" y="5212080"/>
            <a:ext cx="9601200" cy="777240"/>
          </a:xfrm>
          <a:prstGeom prst="rect">
            <a:avLst/>
          </a:prstGeom>
          <a:solidFill>
            <a:srgbClr val="F4F7FB"/>
          </a:solidFill>
          <a:ln/>
        </p:spPr>
      </p:sp>
      <p:sp>
        <p:nvSpPr>
          <p:cNvPr id="30" name="Text 26"/>
          <p:cNvSpPr/>
          <p:nvPr/>
        </p:nvSpPr>
        <p:spPr>
          <a:xfrm>
            <a:off x="2011680" y="5257800"/>
            <a:ext cx="9235440" cy="320040"/>
          </a:xfrm>
          <a:prstGeom prst="rect">
            <a:avLst/>
          </a:prstGeom>
          <a:noFill/>
          <a:ln/>
        </p:spPr>
        <p:txBody>
          <a:bodyPr wrap="square" lIns="0" tIns="0" rIns="0" bIns="0" rtlCol="0" anchor="ctr"/>
          <a:lstStyle/>
          <a:p>
            <a:pPr indent="0" marL="0">
              <a:buNone/>
            </a:pPr>
            <a:r>
              <a:rPr lang="en-US" sz="1400" b="1" dirty="0">
                <a:solidFill>
                  <a:srgbClr val="0B2A4A"/>
                </a:solidFill>
                <a:latin typeface="Calibri" pitchFamily="34" charset="0"/>
                <a:ea typeface="Calibri" pitchFamily="34" charset="-122"/>
                <a:cs typeface="Calibri" pitchFamily="34" charset="-120"/>
              </a:rPr>
              <a:t>Testing &amp; Deployment</a:t>
            </a:r>
            <a:endParaRPr lang="en-US" sz="1400" dirty="0"/>
          </a:p>
        </p:txBody>
      </p:sp>
      <p:sp>
        <p:nvSpPr>
          <p:cNvPr id="31" name="Text 27"/>
          <p:cNvSpPr/>
          <p:nvPr/>
        </p:nvSpPr>
        <p:spPr>
          <a:xfrm>
            <a:off x="2011680" y="5577840"/>
            <a:ext cx="923544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Unit/integration testing, bug fixes, deployment to staging.</a:t>
            </a:r>
            <a:endParaRPr lang="en-US" sz="1100" dirty="0"/>
          </a:p>
        </p:txBody>
      </p:sp>
      <p:sp>
        <p:nvSpPr>
          <p:cNvPr id="32" name="Text 28"/>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33" name="Text 29"/>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Training Undergone — Skills &amp; Tools</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Shape 2"/>
          <p:cNvSpPr/>
          <p:nvPr/>
        </p:nvSpPr>
        <p:spPr>
          <a:xfrm>
            <a:off x="548640" y="1371600"/>
            <a:ext cx="5486400" cy="4846320"/>
          </a:xfrm>
          <a:prstGeom prst="rect">
            <a:avLst/>
          </a:prstGeom>
          <a:solidFill>
            <a:srgbClr val="F4F7FB"/>
          </a:solidFill>
          <a:ln/>
        </p:spPr>
      </p:sp>
      <p:sp>
        <p:nvSpPr>
          <p:cNvPr id="7" name="Shape 3"/>
          <p:cNvSpPr/>
          <p:nvPr/>
        </p:nvSpPr>
        <p:spPr>
          <a:xfrm>
            <a:off x="548640" y="1371600"/>
            <a:ext cx="5486400" cy="502920"/>
          </a:xfrm>
          <a:prstGeom prst="rect">
            <a:avLst/>
          </a:prstGeom>
          <a:solidFill>
            <a:srgbClr val="0B2A4A"/>
          </a:solidFill>
          <a:ln/>
        </p:spPr>
      </p:sp>
      <p:sp>
        <p:nvSpPr>
          <p:cNvPr id="8" name="Text 4"/>
          <p:cNvSpPr/>
          <p:nvPr/>
        </p:nvSpPr>
        <p:spPr>
          <a:xfrm>
            <a:off x="777240" y="1371600"/>
            <a:ext cx="5029200" cy="502920"/>
          </a:xfrm>
          <a:prstGeom prst="rect">
            <a:avLst/>
          </a:prstGeom>
          <a:noFill/>
          <a:ln/>
        </p:spPr>
        <p:txBody>
          <a:bodyPr wrap="square" lIns="0" tIns="0" rIns="0" bIns="0"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SKILLS ACQUIRED</a:t>
            </a:r>
            <a:endParaRPr lang="en-US" sz="1400" dirty="0"/>
          </a:p>
        </p:txBody>
      </p:sp>
      <p:sp>
        <p:nvSpPr>
          <p:cNvPr id="9" name="Text 5"/>
          <p:cNvSpPr/>
          <p:nvPr/>
        </p:nvSpPr>
        <p:spPr>
          <a:xfrm>
            <a:off x="822960" y="2057400"/>
            <a:ext cx="4937760" cy="4023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REST API design &amp; microservices architecture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Relational database design &amp; normalisation</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Role-based access control &amp; secure authentication</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Responsive frontend development with Angular/React</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Backend development in Spring Boot / .NET Core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Git version control &amp; collaborative workflows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API testing using Postman</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Agile methodology &amp; sprint-based delivery</a:t>
            </a:r>
            <a:endParaRPr lang="en-US" sz="1300" dirty="0"/>
          </a:p>
        </p:txBody>
      </p:sp>
      <p:sp>
        <p:nvSpPr>
          <p:cNvPr id="10" name="Shape 6"/>
          <p:cNvSpPr/>
          <p:nvPr/>
        </p:nvSpPr>
        <p:spPr>
          <a:xfrm>
            <a:off x="6217920" y="1371600"/>
            <a:ext cx="5486400" cy="502920"/>
          </a:xfrm>
          <a:prstGeom prst="rect">
            <a:avLst/>
          </a:prstGeom>
          <a:solidFill>
            <a:srgbClr val="00838F"/>
          </a:solidFill>
          <a:ln/>
        </p:spPr>
      </p:sp>
      <p:sp>
        <p:nvSpPr>
          <p:cNvPr id="11" name="Text 7"/>
          <p:cNvSpPr/>
          <p:nvPr/>
        </p:nvSpPr>
        <p:spPr>
          <a:xfrm>
            <a:off x="6446520" y="1371600"/>
            <a:ext cx="5029200" cy="502920"/>
          </a:xfrm>
          <a:prstGeom prst="rect">
            <a:avLst/>
          </a:prstGeom>
          <a:noFill/>
          <a:ln/>
        </p:spPr>
        <p:txBody>
          <a:bodyPr wrap="square" lIns="0" tIns="0" rIns="0" bIns="0"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TOOLS &amp; TECHNOLOGIES</a:t>
            </a:r>
            <a:endParaRPr lang="en-US" sz="1400" dirty="0"/>
          </a:p>
        </p:txBody>
      </p:sp>
      <p:sp>
        <p:nvSpPr>
          <p:cNvPr id="12" name="Shape 8"/>
          <p:cNvSpPr/>
          <p:nvPr/>
        </p:nvSpPr>
        <p:spPr>
          <a:xfrm>
            <a:off x="6263640" y="2011680"/>
            <a:ext cx="2606040" cy="960120"/>
          </a:xfrm>
          <a:prstGeom prst="rect">
            <a:avLst/>
          </a:prstGeom>
          <a:solidFill>
            <a:srgbClr val="FFFFFF"/>
          </a:solidFill>
          <a:ln w="6350">
            <a:solidFill>
              <a:srgbClr val="E2E8F0"/>
            </a:solidFill>
            <a:prstDash val="solid"/>
          </a:ln>
        </p:spPr>
      </p:sp>
      <p:sp>
        <p:nvSpPr>
          <p:cNvPr id="13" name="Text 9"/>
          <p:cNvSpPr/>
          <p:nvPr/>
        </p:nvSpPr>
        <p:spPr>
          <a:xfrm>
            <a:off x="6400800" y="2103120"/>
            <a:ext cx="2331720" cy="320040"/>
          </a:xfrm>
          <a:prstGeom prst="rect">
            <a:avLst/>
          </a:prstGeom>
          <a:noFill/>
          <a:ln/>
        </p:spPr>
        <p:txBody>
          <a:bodyPr wrap="square" lIns="0" tIns="0" rIns="0" bIns="0" rtlCol="0" anchor="ctr"/>
          <a:lstStyle/>
          <a:p>
            <a:pPr indent="0" marL="0">
              <a:buNone/>
            </a:pPr>
            <a:r>
              <a:rPr lang="en-US" sz="1000" b="1" spc="200" kern="0" dirty="0">
                <a:solidFill>
                  <a:srgbClr val="00838F"/>
                </a:solidFill>
                <a:latin typeface="Calibri" pitchFamily="34" charset="0"/>
                <a:ea typeface="Calibri" pitchFamily="34" charset="-122"/>
                <a:cs typeface="Calibri" pitchFamily="34" charset="-120"/>
              </a:rPr>
              <a:t>Frontend</a:t>
            </a:r>
            <a:endParaRPr lang="en-US" sz="1000" dirty="0"/>
          </a:p>
        </p:txBody>
      </p:sp>
      <p:sp>
        <p:nvSpPr>
          <p:cNvPr id="14" name="Text 10"/>
          <p:cNvSpPr/>
          <p:nvPr/>
        </p:nvSpPr>
        <p:spPr>
          <a:xfrm>
            <a:off x="6400800" y="2395728"/>
            <a:ext cx="2331720" cy="502920"/>
          </a:xfrm>
          <a:prstGeom prst="rect">
            <a:avLst/>
          </a:prstGeom>
          <a:noFill/>
          <a:ln/>
        </p:spPr>
        <p:txBody>
          <a:bodyPr wrap="square" lIns="0" tIns="0" rIns="0" bIns="0" rtlCol="0" anchor="ctr"/>
          <a:lstStyle/>
          <a:p>
            <a:pPr indent="0" marL="0">
              <a:buNone/>
            </a:pPr>
            <a:r>
              <a:rPr lang="en-US" sz="1200" b="1" dirty="0">
                <a:solidFill>
                  <a:srgbClr val="0B2A4A"/>
                </a:solidFill>
                <a:latin typeface="Calibri" pitchFamily="34" charset="0"/>
                <a:ea typeface="Calibri" pitchFamily="34" charset="-122"/>
                <a:cs typeface="Calibri" pitchFamily="34" charset="-120"/>
              </a:rPr>
              <a:t>Angular, React</a:t>
            </a:r>
            <a:endParaRPr lang="en-US" sz="1200" dirty="0"/>
          </a:p>
        </p:txBody>
      </p:sp>
      <p:sp>
        <p:nvSpPr>
          <p:cNvPr id="15" name="Shape 11"/>
          <p:cNvSpPr/>
          <p:nvPr/>
        </p:nvSpPr>
        <p:spPr>
          <a:xfrm>
            <a:off x="8961120" y="2011680"/>
            <a:ext cx="2606040" cy="960120"/>
          </a:xfrm>
          <a:prstGeom prst="rect">
            <a:avLst/>
          </a:prstGeom>
          <a:solidFill>
            <a:srgbClr val="FFFFFF"/>
          </a:solidFill>
          <a:ln w="6350">
            <a:solidFill>
              <a:srgbClr val="E2E8F0"/>
            </a:solidFill>
            <a:prstDash val="solid"/>
          </a:ln>
        </p:spPr>
      </p:sp>
      <p:sp>
        <p:nvSpPr>
          <p:cNvPr id="16" name="Text 12"/>
          <p:cNvSpPr/>
          <p:nvPr/>
        </p:nvSpPr>
        <p:spPr>
          <a:xfrm>
            <a:off x="9098280" y="2103120"/>
            <a:ext cx="2331720" cy="320040"/>
          </a:xfrm>
          <a:prstGeom prst="rect">
            <a:avLst/>
          </a:prstGeom>
          <a:noFill/>
          <a:ln/>
        </p:spPr>
        <p:txBody>
          <a:bodyPr wrap="square" lIns="0" tIns="0" rIns="0" bIns="0" rtlCol="0" anchor="ctr"/>
          <a:lstStyle/>
          <a:p>
            <a:pPr indent="0" marL="0">
              <a:buNone/>
            </a:pPr>
            <a:r>
              <a:rPr lang="en-US" sz="1000" b="1" spc="200" kern="0" dirty="0">
                <a:solidFill>
                  <a:srgbClr val="00838F"/>
                </a:solidFill>
                <a:latin typeface="Calibri" pitchFamily="34" charset="0"/>
                <a:ea typeface="Calibri" pitchFamily="34" charset="-122"/>
                <a:cs typeface="Calibri" pitchFamily="34" charset="-120"/>
              </a:rPr>
              <a:t>Backend</a:t>
            </a:r>
            <a:endParaRPr lang="en-US" sz="1000" dirty="0"/>
          </a:p>
        </p:txBody>
      </p:sp>
      <p:sp>
        <p:nvSpPr>
          <p:cNvPr id="17" name="Text 13"/>
          <p:cNvSpPr/>
          <p:nvPr/>
        </p:nvSpPr>
        <p:spPr>
          <a:xfrm>
            <a:off x="9098280" y="2395728"/>
            <a:ext cx="2331720" cy="502920"/>
          </a:xfrm>
          <a:prstGeom prst="rect">
            <a:avLst/>
          </a:prstGeom>
          <a:noFill/>
          <a:ln/>
        </p:spPr>
        <p:txBody>
          <a:bodyPr wrap="square" lIns="0" tIns="0" rIns="0" bIns="0" rtlCol="0" anchor="ctr"/>
          <a:lstStyle/>
          <a:p>
            <a:pPr indent="0" marL="0">
              <a:buNone/>
            </a:pPr>
            <a:r>
              <a:rPr lang="en-US" sz="1200" b="1" dirty="0">
                <a:solidFill>
                  <a:srgbClr val="0B2A4A"/>
                </a:solidFill>
                <a:latin typeface="Calibri" pitchFamily="34" charset="0"/>
                <a:ea typeface="Calibri" pitchFamily="34" charset="-122"/>
                <a:cs typeface="Calibri" pitchFamily="34" charset="-120"/>
              </a:rPr>
              <a:t>Spring Boot / .NET Core</a:t>
            </a:r>
            <a:endParaRPr lang="en-US" sz="1200" dirty="0"/>
          </a:p>
        </p:txBody>
      </p:sp>
      <p:sp>
        <p:nvSpPr>
          <p:cNvPr id="18" name="Shape 14"/>
          <p:cNvSpPr/>
          <p:nvPr/>
        </p:nvSpPr>
        <p:spPr>
          <a:xfrm>
            <a:off x="6263640" y="3063240"/>
            <a:ext cx="2606040" cy="960120"/>
          </a:xfrm>
          <a:prstGeom prst="rect">
            <a:avLst/>
          </a:prstGeom>
          <a:solidFill>
            <a:srgbClr val="FFFFFF"/>
          </a:solidFill>
          <a:ln w="6350">
            <a:solidFill>
              <a:srgbClr val="E2E8F0"/>
            </a:solidFill>
            <a:prstDash val="solid"/>
          </a:ln>
        </p:spPr>
      </p:sp>
      <p:sp>
        <p:nvSpPr>
          <p:cNvPr id="19" name="Text 15"/>
          <p:cNvSpPr/>
          <p:nvPr/>
        </p:nvSpPr>
        <p:spPr>
          <a:xfrm>
            <a:off x="6400800" y="3154680"/>
            <a:ext cx="2331720" cy="320040"/>
          </a:xfrm>
          <a:prstGeom prst="rect">
            <a:avLst/>
          </a:prstGeom>
          <a:noFill/>
          <a:ln/>
        </p:spPr>
        <p:txBody>
          <a:bodyPr wrap="square" lIns="0" tIns="0" rIns="0" bIns="0" rtlCol="0" anchor="ctr"/>
          <a:lstStyle/>
          <a:p>
            <a:pPr indent="0" marL="0">
              <a:buNone/>
            </a:pPr>
            <a:r>
              <a:rPr lang="en-US" sz="1000" b="1" spc="200" kern="0" dirty="0">
                <a:solidFill>
                  <a:srgbClr val="00838F"/>
                </a:solidFill>
                <a:latin typeface="Calibri" pitchFamily="34" charset="0"/>
                <a:ea typeface="Calibri" pitchFamily="34" charset="-122"/>
                <a:cs typeface="Calibri" pitchFamily="34" charset="-120"/>
              </a:rPr>
              <a:t>Database</a:t>
            </a:r>
            <a:endParaRPr lang="en-US" sz="1000" dirty="0"/>
          </a:p>
        </p:txBody>
      </p:sp>
      <p:sp>
        <p:nvSpPr>
          <p:cNvPr id="20" name="Text 16"/>
          <p:cNvSpPr/>
          <p:nvPr/>
        </p:nvSpPr>
        <p:spPr>
          <a:xfrm>
            <a:off x="6400800" y="3447288"/>
            <a:ext cx="2331720" cy="502920"/>
          </a:xfrm>
          <a:prstGeom prst="rect">
            <a:avLst/>
          </a:prstGeom>
          <a:noFill/>
          <a:ln/>
        </p:spPr>
        <p:txBody>
          <a:bodyPr wrap="square" lIns="0" tIns="0" rIns="0" bIns="0" rtlCol="0" anchor="ctr"/>
          <a:lstStyle/>
          <a:p>
            <a:pPr indent="0" marL="0">
              <a:buNone/>
            </a:pPr>
            <a:r>
              <a:rPr lang="en-US" sz="1200" b="1" dirty="0">
                <a:solidFill>
                  <a:srgbClr val="0B2A4A"/>
                </a:solidFill>
                <a:latin typeface="Calibri" pitchFamily="34" charset="0"/>
                <a:ea typeface="Calibri" pitchFamily="34" charset="-122"/>
                <a:cs typeface="Calibri" pitchFamily="34" charset="-120"/>
              </a:rPr>
              <a:t>MySQL / PostgreSQL</a:t>
            </a:r>
            <a:endParaRPr lang="en-US" sz="1200" dirty="0"/>
          </a:p>
        </p:txBody>
      </p:sp>
      <p:sp>
        <p:nvSpPr>
          <p:cNvPr id="21" name="Shape 17"/>
          <p:cNvSpPr/>
          <p:nvPr/>
        </p:nvSpPr>
        <p:spPr>
          <a:xfrm>
            <a:off x="8961120" y="3063240"/>
            <a:ext cx="2606040" cy="960120"/>
          </a:xfrm>
          <a:prstGeom prst="rect">
            <a:avLst/>
          </a:prstGeom>
          <a:solidFill>
            <a:srgbClr val="FFFFFF"/>
          </a:solidFill>
          <a:ln w="6350">
            <a:solidFill>
              <a:srgbClr val="E2E8F0"/>
            </a:solidFill>
            <a:prstDash val="solid"/>
          </a:ln>
        </p:spPr>
      </p:sp>
      <p:sp>
        <p:nvSpPr>
          <p:cNvPr id="22" name="Text 18"/>
          <p:cNvSpPr/>
          <p:nvPr/>
        </p:nvSpPr>
        <p:spPr>
          <a:xfrm>
            <a:off x="9098280" y="3154680"/>
            <a:ext cx="2331720" cy="320040"/>
          </a:xfrm>
          <a:prstGeom prst="rect">
            <a:avLst/>
          </a:prstGeom>
          <a:noFill/>
          <a:ln/>
        </p:spPr>
        <p:txBody>
          <a:bodyPr wrap="square" lIns="0" tIns="0" rIns="0" bIns="0" rtlCol="0" anchor="ctr"/>
          <a:lstStyle/>
          <a:p>
            <a:pPr indent="0" marL="0">
              <a:buNone/>
            </a:pPr>
            <a:r>
              <a:rPr lang="en-US" sz="1000" b="1" spc="200" kern="0" dirty="0">
                <a:solidFill>
                  <a:srgbClr val="00838F"/>
                </a:solidFill>
                <a:latin typeface="Calibri" pitchFamily="34" charset="0"/>
                <a:ea typeface="Calibri" pitchFamily="34" charset="-122"/>
                <a:cs typeface="Calibri" pitchFamily="34" charset="-120"/>
              </a:rPr>
              <a:t>API &amp; Test</a:t>
            </a:r>
            <a:endParaRPr lang="en-US" sz="1000" dirty="0"/>
          </a:p>
        </p:txBody>
      </p:sp>
      <p:sp>
        <p:nvSpPr>
          <p:cNvPr id="23" name="Text 19"/>
          <p:cNvSpPr/>
          <p:nvPr/>
        </p:nvSpPr>
        <p:spPr>
          <a:xfrm>
            <a:off x="9098280" y="3447288"/>
            <a:ext cx="2331720" cy="502920"/>
          </a:xfrm>
          <a:prstGeom prst="rect">
            <a:avLst/>
          </a:prstGeom>
          <a:noFill/>
          <a:ln/>
        </p:spPr>
        <p:txBody>
          <a:bodyPr wrap="square" lIns="0" tIns="0" rIns="0" bIns="0" rtlCol="0" anchor="ctr"/>
          <a:lstStyle/>
          <a:p>
            <a:pPr indent="0" marL="0">
              <a:buNone/>
            </a:pPr>
            <a:r>
              <a:rPr lang="en-US" sz="1200" b="1" dirty="0">
                <a:solidFill>
                  <a:srgbClr val="0B2A4A"/>
                </a:solidFill>
                <a:latin typeface="Calibri" pitchFamily="34" charset="0"/>
                <a:ea typeface="Calibri" pitchFamily="34" charset="-122"/>
                <a:cs typeface="Calibri" pitchFamily="34" charset="-120"/>
              </a:rPr>
              <a:t>Postman, Swagger</a:t>
            </a:r>
            <a:endParaRPr lang="en-US" sz="1200" dirty="0"/>
          </a:p>
        </p:txBody>
      </p:sp>
      <p:sp>
        <p:nvSpPr>
          <p:cNvPr id="24" name="Shape 20"/>
          <p:cNvSpPr/>
          <p:nvPr/>
        </p:nvSpPr>
        <p:spPr>
          <a:xfrm>
            <a:off x="6263640" y="4114800"/>
            <a:ext cx="2606040" cy="960120"/>
          </a:xfrm>
          <a:prstGeom prst="rect">
            <a:avLst/>
          </a:prstGeom>
          <a:solidFill>
            <a:srgbClr val="FFFFFF"/>
          </a:solidFill>
          <a:ln w="6350">
            <a:solidFill>
              <a:srgbClr val="E2E8F0"/>
            </a:solidFill>
            <a:prstDash val="solid"/>
          </a:ln>
        </p:spPr>
      </p:sp>
      <p:sp>
        <p:nvSpPr>
          <p:cNvPr id="25" name="Text 21"/>
          <p:cNvSpPr/>
          <p:nvPr/>
        </p:nvSpPr>
        <p:spPr>
          <a:xfrm>
            <a:off x="6400800" y="4206240"/>
            <a:ext cx="2331720" cy="320040"/>
          </a:xfrm>
          <a:prstGeom prst="rect">
            <a:avLst/>
          </a:prstGeom>
          <a:noFill/>
          <a:ln/>
        </p:spPr>
        <p:txBody>
          <a:bodyPr wrap="square" lIns="0" tIns="0" rIns="0" bIns="0" rtlCol="0" anchor="ctr"/>
          <a:lstStyle/>
          <a:p>
            <a:pPr indent="0" marL="0">
              <a:buNone/>
            </a:pPr>
            <a:r>
              <a:rPr lang="en-US" sz="1000" b="1" spc="200" kern="0" dirty="0">
                <a:solidFill>
                  <a:srgbClr val="00838F"/>
                </a:solidFill>
                <a:latin typeface="Calibri" pitchFamily="34" charset="0"/>
                <a:ea typeface="Calibri" pitchFamily="34" charset="-122"/>
                <a:cs typeface="Calibri" pitchFamily="34" charset="-120"/>
              </a:rPr>
              <a:t>Versioning</a:t>
            </a:r>
            <a:endParaRPr lang="en-US" sz="1000" dirty="0"/>
          </a:p>
        </p:txBody>
      </p:sp>
      <p:sp>
        <p:nvSpPr>
          <p:cNvPr id="26" name="Text 22"/>
          <p:cNvSpPr/>
          <p:nvPr/>
        </p:nvSpPr>
        <p:spPr>
          <a:xfrm>
            <a:off x="6400800" y="4498848"/>
            <a:ext cx="2331720" cy="502920"/>
          </a:xfrm>
          <a:prstGeom prst="rect">
            <a:avLst/>
          </a:prstGeom>
          <a:noFill/>
          <a:ln/>
        </p:spPr>
        <p:txBody>
          <a:bodyPr wrap="square" lIns="0" tIns="0" rIns="0" bIns="0" rtlCol="0" anchor="ctr"/>
          <a:lstStyle/>
          <a:p>
            <a:pPr indent="0" marL="0">
              <a:buNone/>
            </a:pPr>
            <a:r>
              <a:rPr lang="en-US" sz="1200" b="1" dirty="0">
                <a:solidFill>
                  <a:srgbClr val="0B2A4A"/>
                </a:solidFill>
                <a:latin typeface="Calibri" pitchFamily="34" charset="0"/>
                <a:ea typeface="Calibri" pitchFamily="34" charset="-122"/>
                <a:cs typeface="Calibri" pitchFamily="34" charset="-120"/>
              </a:rPr>
              <a:t>Git, GitHub</a:t>
            </a:r>
            <a:endParaRPr lang="en-US" sz="1200" dirty="0"/>
          </a:p>
        </p:txBody>
      </p:sp>
      <p:sp>
        <p:nvSpPr>
          <p:cNvPr id="27" name="Shape 23"/>
          <p:cNvSpPr/>
          <p:nvPr/>
        </p:nvSpPr>
        <p:spPr>
          <a:xfrm>
            <a:off x="8961120" y="4114800"/>
            <a:ext cx="2606040" cy="960120"/>
          </a:xfrm>
          <a:prstGeom prst="rect">
            <a:avLst/>
          </a:prstGeom>
          <a:solidFill>
            <a:srgbClr val="FFFFFF"/>
          </a:solidFill>
          <a:ln w="6350">
            <a:solidFill>
              <a:srgbClr val="E2E8F0"/>
            </a:solidFill>
            <a:prstDash val="solid"/>
          </a:ln>
        </p:spPr>
      </p:sp>
      <p:sp>
        <p:nvSpPr>
          <p:cNvPr id="28" name="Text 24"/>
          <p:cNvSpPr/>
          <p:nvPr/>
        </p:nvSpPr>
        <p:spPr>
          <a:xfrm>
            <a:off x="9098280" y="4206240"/>
            <a:ext cx="2331720" cy="320040"/>
          </a:xfrm>
          <a:prstGeom prst="rect">
            <a:avLst/>
          </a:prstGeom>
          <a:noFill/>
          <a:ln/>
        </p:spPr>
        <p:txBody>
          <a:bodyPr wrap="square" lIns="0" tIns="0" rIns="0" bIns="0" rtlCol="0" anchor="ctr"/>
          <a:lstStyle/>
          <a:p>
            <a:pPr indent="0" marL="0">
              <a:buNone/>
            </a:pPr>
            <a:r>
              <a:rPr lang="en-US" sz="1000" b="1" spc="200" kern="0" dirty="0">
                <a:solidFill>
                  <a:srgbClr val="00838F"/>
                </a:solidFill>
                <a:latin typeface="Calibri" pitchFamily="34" charset="0"/>
                <a:ea typeface="Calibri" pitchFamily="34" charset="-122"/>
                <a:cs typeface="Calibri" pitchFamily="34" charset="-120"/>
              </a:rPr>
              <a:t>Deployment</a:t>
            </a:r>
            <a:endParaRPr lang="en-US" sz="1000" dirty="0"/>
          </a:p>
        </p:txBody>
      </p:sp>
      <p:sp>
        <p:nvSpPr>
          <p:cNvPr id="29" name="Text 25"/>
          <p:cNvSpPr/>
          <p:nvPr/>
        </p:nvSpPr>
        <p:spPr>
          <a:xfrm>
            <a:off x="9098280" y="4498848"/>
            <a:ext cx="2331720" cy="502920"/>
          </a:xfrm>
          <a:prstGeom prst="rect">
            <a:avLst/>
          </a:prstGeom>
          <a:noFill/>
          <a:ln/>
        </p:spPr>
        <p:txBody>
          <a:bodyPr wrap="square" lIns="0" tIns="0" rIns="0" bIns="0" rtlCol="0" anchor="ctr"/>
          <a:lstStyle/>
          <a:p>
            <a:pPr indent="0" marL="0">
              <a:buNone/>
            </a:pPr>
            <a:r>
              <a:rPr lang="en-US" sz="1200" b="1" dirty="0">
                <a:solidFill>
                  <a:srgbClr val="0B2A4A"/>
                </a:solidFill>
                <a:latin typeface="Calibri" pitchFamily="34" charset="0"/>
                <a:ea typeface="Calibri" pitchFamily="34" charset="-122"/>
                <a:cs typeface="Calibri" pitchFamily="34" charset="-120"/>
              </a:rPr>
              <a:t>Cloud / On-prem, WAF</a:t>
            </a:r>
            <a:endParaRPr lang="en-US" sz="1200" dirty="0"/>
          </a:p>
        </p:txBody>
      </p:sp>
      <p:sp>
        <p:nvSpPr>
          <p:cNvPr id="30" name="Shape 26"/>
          <p:cNvSpPr/>
          <p:nvPr/>
        </p:nvSpPr>
        <p:spPr>
          <a:xfrm>
            <a:off x="6263640" y="5166360"/>
            <a:ext cx="2606040" cy="960120"/>
          </a:xfrm>
          <a:prstGeom prst="rect">
            <a:avLst/>
          </a:prstGeom>
          <a:solidFill>
            <a:srgbClr val="FFFFFF"/>
          </a:solidFill>
          <a:ln w="6350">
            <a:solidFill>
              <a:srgbClr val="E2E8F0"/>
            </a:solidFill>
            <a:prstDash val="solid"/>
          </a:ln>
        </p:spPr>
      </p:sp>
      <p:sp>
        <p:nvSpPr>
          <p:cNvPr id="31" name="Text 27"/>
          <p:cNvSpPr/>
          <p:nvPr/>
        </p:nvSpPr>
        <p:spPr>
          <a:xfrm>
            <a:off x="6400800" y="5257800"/>
            <a:ext cx="2331720" cy="320040"/>
          </a:xfrm>
          <a:prstGeom prst="rect">
            <a:avLst/>
          </a:prstGeom>
          <a:noFill/>
          <a:ln/>
        </p:spPr>
        <p:txBody>
          <a:bodyPr wrap="square" lIns="0" tIns="0" rIns="0" bIns="0" rtlCol="0" anchor="ctr"/>
          <a:lstStyle/>
          <a:p>
            <a:pPr indent="0" marL="0">
              <a:buNone/>
            </a:pPr>
            <a:r>
              <a:rPr lang="en-US" sz="1000" b="1" spc="200" kern="0" dirty="0">
                <a:solidFill>
                  <a:srgbClr val="00838F"/>
                </a:solidFill>
                <a:latin typeface="Calibri" pitchFamily="34" charset="0"/>
                <a:ea typeface="Calibri" pitchFamily="34" charset="-122"/>
                <a:cs typeface="Calibri" pitchFamily="34" charset="-120"/>
              </a:rPr>
              <a:t>IDE</a:t>
            </a:r>
            <a:endParaRPr lang="en-US" sz="1000" dirty="0"/>
          </a:p>
        </p:txBody>
      </p:sp>
      <p:sp>
        <p:nvSpPr>
          <p:cNvPr id="32" name="Text 28"/>
          <p:cNvSpPr/>
          <p:nvPr/>
        </p:nvSpPr>
        <p:spPr>
          <a:xfrm>
            <a:off x="6400800" y="5550408"/>
            <a:ext cx="2331720" cy="502920"/>
          </a:xfrm>
          <a:prstGeom prst="rect">
            <a:avLst/>
          </a:prstGeom>
          <a:noFill/>
          <a:ln/>
        </p:spPr>
        <p:txBody>
          <a:bodyPr wrap="square" lIns="0" tIns="0" rIns="0" bIns="0" rtlCol="0" anchor="ctr"/>
          <a:lstStyle/>
          <a:p>
            <a:pPr indent="0" marL="0">
              <a:buNone/>
            </a:pPr>
            <a:r>
              <a:rPr lang="en-US" sz="1200" b="1" dirty="0">
                <a:solidFill>
                  <a:srgbClr val="0B2A4A"/>
                </a:solidFill>
                <a:latin typeface="Calibri" pitchFamily="34" charset="0"/>
                <a:ea typeface="Calibri" pitchFamily="34" charset="-122"/>
                <a:cs typeface="Calibri" pitchFamily="34" charset="-120"/>
              </a:rPr>
              <a:t>VS Code, IntelliJ IDEA</a:t>
            </a:r>
            <a:endParaRPr lang="en-US" sz="1200" dirty="0"/>
          </a:p>
        </p:txBody>
      </p:sp>
      <p:sp>
        <p:nvSpPr>
          <p:cNvPr id="33" name="Shape 29"/>
          <p:cNvSpPr/>
          <p:nvPr/>
        </p:nvSpPr>
        <p:spPr>
          <a:xfrm>
            <a:off x="8961120" y="5166360"/>
            <a:ext cx="2606040" cy="960120"/>
          </a:xfrm>
          <a:prstGeom prst="rect">
            <a:avLst/>
          </a:prstGeom>
          <a:solidFill>
            <a:srgbClr val="FFFFFF"/>
          </a:solidFill>
          <a:ln w="6350">
            <a:solidFill>
              <a:srgbClr val="E2E8F0"/>
            </a:solidFill>
            <a:prstDash val="solid"/>
          </a:ln>
        </p:spPr>
      </p:sp>
      <p:sp>
        <p:nvSpPr>
          <p:cNvPr id="34" name="Text 30"/>
          <p:cNvSpPr/>
          <p:nvPr/>
        </p:nvSpPr>
        <p:spPr>
          <a:xfrm>
            <a:off x="9098280" y="5257800"/>
            <a:ext cx="2331720" cy="320040"/>
          </a:xfrm>
          <a:prstGeom prst="rect">
            <a:avLst/>
          </a:prstGeom>
          <a:noFill/>
          <a:ln/>
        </p:spPr>
        <p:txBody>
          <a:bodyPr wrap="square" lIns="0" tIns="0" rIns="0" bIns="0" rtlCol="0" anchor="ctr"/>
          <a:lstStyle/>
          <a:p>
            <a:pPr indent="0" marL="0">
              <a:buNone/>
            </a:pPr>
            <a:r>
              <a:rPr lang="en-US" sz="1000" b="1" spc="200" kern="0" dirty="0">
                <a:solidFill>
                  <a:srgbClr val="00838F"/>
                </a:solidFill>
                <a:latin typeface="Calibri" pitchFamily="34" charset="0"/>
                <a:ea typeface="Calibri" pitchFamily="34" charset="-122"/>
                <a:cs typeface="Calibri" pitchFamily="34" charset="-120"/>
              </a:rPr>
              <a:t>Observability</a:t>
            </a:r>
            <a:endParaRPr lang="en-US" sz="1000" dirty="0"/>
          </a:p>
        </p:txBody>
      </p:sp>
      <p:sp>
        <p:nvSpPr>
          <p:cNvPr id="35" name="Text 31"/>
          <p:cNvSpPr/>
          <p:nvPr/>
        </p:nvSpPr>
        <p:spPr>
          <a:xfrm>
            <a:off x="9098280" y="5550408"/>
            <a:ext cx="2331720" cy="502920"/>
          </a:xfrm>
          <a:prstGeom prst="rect">
            <a:avLst/>
          </a:prstGeom>
          <a:noFill/>
          <a:ln/>
        </p:spPr>
        <p:txBody>
          <a:bodyPr wrap="square" lIns="0" tIns="0" rIns="0" bIns="0" rtlCol="0" anchor="ctr"/>
          <a:lstStyle/>
          <a:p>
            <a:pPr indent="0" marL="0">
              <a:buNone/>
            </a:pPr>
            <a:r>
              <a:rPr lang="en-US" sz="1200" b="1" dirty="0">
                <a:solidFill>
                  <a:srgbClr val="0B2A4A"/>
                </a:solidFill>
                <a:latin typeface="Calibri" pitchFamily="34" charset="0"/>
                <a:ea typeface="Calibri" pitchFamily="34" charset="-122"/>
                <a:cs typeface="Calibri" pitchFamily="34" charset="-120"/>
              </a:rPr>
              <a:t>Centralised logging</a:t>
            </a:r>
            <a:endParaRPr lang="en-US" sz="1200" dirty="0"/>
          </a:p>
        </p:txBody>
      </p:sp>
      <p:sp>
        <p:nvSpPr>
          <p:cNvPr id="36" name="Text 32"/>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37" name="Text 33"/>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Challenges Faced and Solutions</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Shape 2"/>
          <p:cNvSpPr/>
          <p:nvPr/>
        </p:nvSpPr>
        <p:spPr>
          <a:xfrm>
            <a:off x="548640" y="1371600"/>
            <a:ext cx="5486400" cy="457200"/>
          </a:xfrm>
          <a:prstGeom prst="rect">
            <a:avLst/>
          </a:prstGeom>
          <a:solidFill>
            <a:srgbClr val="FFA000"/>
          </a:solidFill>
          <a:ln/>
        </p:spPr>
      </p:sp>
      <p:sp>
        <p:nvSpPr>
          <p:cNvPr id="7" name="Text 3"/>
          <p:cNvSpPr/>
          <p:nvPr/>
        </p:nvSpPr>
        <p:spPr>
          <a:xfrm>
            <a:off x="777240" y="1371600"/>
            <a:ext cx="5029200" cy="457200"/>
          </a:xfrm>
          <a:prstGeom prst="rect">
            <a:avLst/>
          </a:prstGeom>
          <a:noFill/>
          <a:ln/>
        </p:spPr>
        <p:txBody>
          <a:bodyPr wrap="square" lIns="0" tIns="0" rIns="0" bIns="0" rtlCol="0" anchor="ctr"/>
          <a:lstStyle/>
          <a:p>
            <a:pPr indent="0" marL="0">
              <a:buNone/>
            </a:pPr>
            <a:r>
              <a:rPr lang="en-US" sz="1300" b="1" spc="300" kern="0" dirty="0">
                <a:solidFill>
                  <a:srgbClr val="0B2A4A"/>
                </a:solidFill>
                <a:latin typeface="Calibri" pitchFamily="34" charset="0"/>
                <a:ea typeface="Calibri" pitchFamily="34" charset="-122"/>
                <a:cs typeface="Calibri" pitchFamily="34" charset="-120"/>
              </a:rPr>
              <a:t>CHALLENGE</a:t>
            </a:r>
            <a:endParaRPr lang="en-US" sz="1300" dirty="0"/>
          </a:p>
        </p:txBody>
      </p:sp>
      <p:sp>
        <p:nvSpPr>
          <p:cNvPr id="8" name="Shape 4"/>
          <p:cNvSpPr/>
          <p:nvPr/>
        </p:nvSpPr>
        <p:spPr>
          <a:xfrm>
            <a:off x="6217920" y="1371600"/>
            <a:ext cx="5486400" cy="457200"/>
          </a:xfrm>
          <a:prstGeom prst="rect">
            <a:avLst/>
          </a:prstGeom>
          <a:solidFill>
            <a:srgbClr val="00838F"/>
          </a:solidFill>
          <a:ln/>
        </p:spPr>
      </p:sp>
      <p:sp>
        <p:nvSpPr>
          <p:cNvPr id="9" name="Text 5"/>
          <p:cNvSpPr/>
          <p:nvPr/>
        </p:nvSpPr>
        <p:spPr>
          <a:xfrm>
            <a:off x="6446520" y="1371600"/>
            <a:ext cx="5029200" cy="45720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SOLUTION</a:t>
            </a:r>
            <a:endParaRPr lang="en-US" sz="1300" dirty="0"/>
          </a:p>
        </p:txBody>
      </p:sp>
      <p:sp>
        <p:nvSpPr>
          <p:cNvPr id="10" name="Shape 6"/>
          <p:cNvSpPr/>
          <p:nvPr/>
        </p:nvSpPr>
        <p:spPr>
          <a:xfrm>
            <a:off x="548640" y="1920240"/>
            <a:ext cx="5486400" cy="1051560"/>
          </a:xfrm>
          <a:prstGeom prst="rect">
            <a:avLst/>
          </a:prstGeom>
          <a:solidFill>
            <a:srgbClr val="F4F7FB"/>
          </a:solidFill>
          <a:ln/>
        </p:spPr>
      </p:sp>
      <p:sp>
        <p:nvSpPr>
          <p:cNvPr id="11" name="Text 7"/>
          <p:cNvSpPr/>
          <p:nvPr/>
        </p:nvSpPr>
        <p:spPr>
          <a:xfrm>
            <a:off x="777240" y="2011680"/>
            <a:ext cx="502920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Designing a schema flexible enough to cover incidents, traffic flow, transport, and compliance without duplication.</a:t>
            </a:r>
            <a:endParaRPr lang="en-US" sz="1100" dirty="0"/>
          </a:p>
        </p:txBody>
      </p:sp>
      <p:sp>
        <p:nvSpPr>
          <p:cNvPr id="12" name="Shape 8"/>
          <p:cNvSpPr/>
          <p:nvPr/>
        </p:nvSpPr>
        <p:spPr>
          <a:xfrm>
            <a:off x="6217920" y="1920240"/>
            <a:ext cx="5486400" cy="1051560"/>
          </a:xfrm>
          <a:prstGeom prst="rect">
            <a:avLst/>
          </a:prstGeom>
          <a:solidFill>
            <a:srgbClr val="E6F4F1"/>
          </a:solidFill>
          <a:ln/>
        </p:spPr>
      </p:sp>
      <p:sp>
        <p:nvSpPr>
          <p:cNvPr id="13" name="Text 9"/>
          <p:cNvSpPr/>
          <p:nvPr/>
        </p:nvSpPr>
        <p:spPr>
          <a:xfrm>
            <a:off x="6446520" y="2011680"/>
            <a:ext cx="502920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Normalised tables with shared User and AuditLog entities; foreign keys link each module cleanly.</a:t>
            </a:r>
            <a:endParaRPr lang="en-US" sz="1100" dirty="0"/>
          </a:p>
        </p:txBody>
      </p:sp>
      <p:sp>
        <p:nvSpPr>
          <p:cNvPr id="14" name="Shape 10"/>
          <p:cNvSpPr/>
          <p:nvPr/>
        </p:nvSpPr>
        <p:spPr>
          <a:xfrm>
            <a:off x="548640" y="3081528"/>
            <a:ext cx="5486400" cy="1051560"/>
          </a:xfrm>
          <a:prstGeom prst="rect">
            <a:avLst/>
          </a:prstGeom>
          <a:solidFill>
            <a:srgbClr val="F4F7FB"/>
          </a:solidFill>
          <a:ln/>
        </p:spPr>
      </p:sp>
      <p:sp>
        <p:nvSpPr>
          <p:cNvPr id="15" name="Text 11"/>
          <p:cNvSpPr/>
          <p:nvPr/>
        </p:nvSpPr>
        <p:spPr>
          <a:xfrm>
            <a:off x="777240" y="3172968"/>
            <a:ext cx="502920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Securing role-based access across 5 user types (Citizen, Officer, Operator, Admin, Compliance).</a:t>
            </a:r>
            <a:endParaRPr lang="en-US" sz="1100" dirty="0"/>
          </a:p>
        </p:txBody>
      </p:sp>
      <p:sp>
        <p:nvSpPr>
          <p:cNvPr id="16" name="Shape 12"/>
          <p:cNvSpPr/>
          <p:nvPr/>
        </p:nvSpPr>
        <p:spPr>
          <a:xfrm>
            <a:off x="6217920" y="3081528"/>
            <a:ext cx="5486400" cy="1051560"/>
          </a:xfrm>
          <a:prstGeom prst="rect">
            <a:avLst/>
          </a:prstGeom>
          <a:solidFill>
            <a:srgbClr val="E6F4F1"/>
          </a:solidFill>
          <a:ln/>
        </p:spPr>
      </p:sp>
      <p:sp>
        <p:nvSpPr>
          <p:cNvPr id="17" name="Text 13"/>
          <p:cNvSpPr/>
          <p:nvPr/>
        </p:nvSpPr>
        <p:spPr>
          <a:xfrm>
            <a:off x="6446520" y="3172968"/>
            <a:ext cx="502920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Implemented JWT-based authentication with role claims and middleware enforcing API-level RBAC.</a:t>
            </a:r>
            <a:endParaRPr lang="en-US" sz="1100" dirty="0"/>
          </a:p>
        </p:txBody>
      </p:sp>
      <p:sp>
        <p:nvSpPr>
          <p:cNvPr id="18" name="Shape 14"/>
          <p:cNvSpPr/>
          <p:nvPr/>
        </p:nvSpPr>
        <p:spPr>
          <a:xfrm>
            <a:off x="548640" y="4242816"/>
            <a:ext cx="5486400" cy="1051560"/>
          </a:xfrm>
          <a:prstGeom prst="rect">
            <a:avLst/>
          </a:prstGeom>
          <a:solidFill>
            <a:srgbClr val="F4F7FB"/>
          </a:solidFill>
          <a:ln/>
        </p:spPr>
      </p:sp>
      <p:sp>
        <p:nvSpPr>
          <p:cNvPr id="19" name="Text 15"/>
          <p:cNvSpPr/>
          <p:nvPr/>
        </p:nvSpPr>
        <p:spPr>
          <a:xfrm>
            <a:off x="777240" y="4334256"/>
            <a:ext cx="502920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Handling high concurrent load (target: 100K users) without blocking the UI.</a:t>
            </a:r>
            <a:endParaRPr lang="en-US" sz="1100" dirty="0"/>
          </a:p>
        </p:txBody>
      </p:sp>
      <p:sp>
        <p:nvSpPr>
          <p:cNvPr id="20" name="Shape 16"/>
          <p:cNvSpPr/>
          <p:nvPr/>
        </p:nvSpPr>
        <p:spPr>
          <a:xfrm>
            <a:off x="6217920" y="4242816"/>
            <a:ext cx="5486400" cy="1051560"/>
          </a:xfrm>
          <a:prstGeom prst="rect">
            <a:avLst/>
          </a:prstGeom>
          <a:solidFill>
            <a:srgbClr val="E6F4F1"/>
          </a:solidFill>
          <a:ln/>
        </p:spPr>
      </p:sp>
      <p:sp>
        <p:nvSpPr>
          <p:cNvPr id="21" name="Text 17"/>
          <p:cNvSpPr/>
          <p:nvPr/>
        </p:nvSpPr>
        <p:spPr>
          <a:xfrm>
            <a:off x="6446520" y="4334256"/>
            <a:ext cx="502920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Adopted microservices, async REST calls, API gateway with caching, and database connection pooling.</a:t>
            </a:r>
            <a:endParaRPr lang="en-US" sz="1100" dirty="0"/>
          </a:p>
        </p:txBody>
      </p:sp>
      <p:sp>
        <p:nvSpPr>
          <p:cNvPr id="22" name="Shape 18"/>
          <p:cNvSpPr/>
          <p:nvPr/>
        </p:nvSpPr>
        <p:spPr>
          <a:xfrm>
            <a:off x="548640" y="5404104"/>
            <a:ext cx="5486400" cy="1051560"/>
          </a:xfrm>
          <a:prstGeom prst="rect">
            <a:avLst/>
          </a:prstGeom>
          <a:solidFill>
            <a:srgbClr val="F4F7FB"/>
          </a:solidFill>
          <a:ln/>
        </p:spPr>
      </p:sp>
      <p:sp>
        <p:nvSpPr>
          <p:cNvPr id="23" name="Text 19"/>
          <p:cNvSpPr/>
          <p:nvPr/>
        </p:nvSpPr>
        <p:spPr>
          <a:xfrm>
            <a:off x="777240" y="5495544"/>
            <a:ext cx="502920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Maintaining tamper-proof audit logs across user actions.</a:t>
            </a:r>
            <a:endParaRPr lang="en-US" sz="1100" dirty="0"/>
          </a:p>
        </p:txBody>
      </p:sp>
      <p:sp>
        <p:nvSpPr>
          <p:cNvPr id="24" name="Shape 20"/>
          <p:cNvSpPr/>
          <p:nvPr/>
        </p:nvSpPr>
        <p:spPr>
          <a:xfrm>
            <a:off x="6217920" y="5404104"/>
            <a:ext cx="5486400" cy="1051560"/>
          </a:xfrm>
          <a:prstGeom prst="rect">
            <a:avLst/>
          </a:prstGeom>
          <a:solidFill>
            <a:srgbClr val="E6F4F1"/>
          </a:solidFill>
          <a:ln/>
        </p:spPr>
      </p:sp>
      <p:sp>
        <p:nvSpPr>
          <p:cNvPr id="25" name="Text 21"/>
          <p:cNvSpPr/>
          <p:nvPr/>
        </p:nvSpPr>
        <p:spPr>
          <a:xfrm>
            <a:off x="6446520" y="5495544"/>
            <a:ext cx="502920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Append-only AuditLog table with immutable rows and centralised logging for cross-service traceability.</a:t>
            </a:r>
            <a:endParaRPr lang="en-US" sz="1100" dirty="0"/>
          </a:p>
        </p:txBody>
      </p:sp>
      <p:sp>
        <p:nvSpPr>
          <p:cNvPr id="26" name="Text 22"/>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27" name="Text 23"/>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Project Outcome &amp; Achievements</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Shape 2"/>
          <p:cNvSpPr/>
          <p:nvPr/>
        </p:nvSpPr>
        <p:spPr>
          <a:xfrm>
            <a:off x="502920" y="1371600"/>
            <a:ext cx="2651760" cy="1371600"/>
          </a:xfrm>
          <a:prstGeom prst="rect">
            <a:avLst/>
          </a:prstGeom>
          <a:solidFill>
            <a:srgbClr val="1565C0"/>
          </a:solidFill>
          <a:ln/>
        </p:spPr>
      </p:sp>
      <p:sp>
        <p:nvSpPr>
          <p:cNvPr id="7" name="Text 3"/>
          <p:cNvSpPr/>
          <p:nvPr/>
        </p:nvSpPr>
        <p:spPr>
          <a:xfrm>
            <a:off x="502920" y="1417320"/>
            <a:ext cx="265176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7</a:t>
            </a:r>
            <a:endParaRPr lang="en-US" sz="4000" dirty="0"/>
          </a:p>
        </p:txBody>
      </p:sp>
      <p:sp>
        <p:nvSpPr>
          <p:cNvPr id="8" name="Text 4"/>
          <p:cNvSpPr/>
          <p:nvPr/>
        </p:nvSpPr>
        <p:spPr>
          <a:xfrm>
            <a:off x="594360" y="2148840"/>
            <a:ext cx="2468880"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Functional Modules Delivered</a:t>
            </a:r>
            <a:endParaRPr lang="en-US" sz="1100" dirty="0"/>
          </a:p>
        </p:txBody>
      </p:sp>
      <p:sp>
        <p:nvSpPr>
          <p:cNvPr id="9" name="Shape 5"/>
          <p:cNvSpPr/>
          <p:nvPr/>
        </p:nvSpPr>
        <p:spPr>
          <a:xfrm>
            <a:off x="3337560" y="1371600"/>
            <a:ext cx="2651760" cy="1371600"/>
          </a:xfrm>
          <a:prstGeom prst="rect">
            <a:avLst/>
          </a:prstGeom>
          <a:solidFill>
            <a:srgbClr val="00838F"/>
          </a:solidFill>
          <a:ln/>
        </p:spPr>
      </p:sp>
      <p:sp>
        <p:nvSpPr>
          <p:cNvPr id="10" name="Text 6"/>
          <p:cNvSpPr/>
          <p:nvPr/>
        </p:nvSpPr>
        <p:spPr>
          <a:xfrm>
            <a:off x="3337560" y="1417320"/>
            <a:ext cx="265176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5</a:t>
            </a:r>
            <a:endParaRPr lang="en-US" sz="4000" dirty="0"/>
          </a:p>
        </p:txBody>
      </p:sp>
      <p:sp>
        <p:nvSpPr>
          <p:cNvPr id="11" name="Text 7"/>
          <p:cNvSpPr/>
          <p:nvPr/>
        </p:nvSpPr>
        <p:spPr>
          <a:xfrm>
            <a:off x="3429000" y="2148840"/>
            <a:ext cx="2468880"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User Roles Supported</a:t>
            </a:r>
            <a:endParaRPr lang="en-US" sz="1100" dirty="0"/>
          </a:p>
        </p:txBody>
      </p:sp>
      <p:sp>
        <p:nvSpPr>
          <p:cNvPr id="12" name="Shape 8"/>
          <p:cNvSpPr/>
          <p:nvPr/>
        </p:nvSpPr>
        <p:spPr>
          <a:xfrm>
            <a:off x="6172200" y="1371600"/>
            <a:ext cx="2651760" cy="1371600"/>
          </a:xfrm>
          <a:prstGeom prst="rect">
            <a:avLst/>
          </a:prstGeom>
          <a:solidFill>
            <a:srgbClr val="FFA000"/>
          </a:solidFill>
          <a:ln/>
        </p:spPr>
      </p:sp>
      <p:sp>
        <p:nvSpPr>
          <p:cNvPr id="13" name="Text 9"/>
          <p:cNvSpPr/>
          <p:nvPr/>
        </p:nvSpPr>
        <p:spPr>
          <a:xfrm>
            <a:off x="6172200" y="1417320"/>
            <a:ext cx="265176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13</a:t>
            </a:r>
            <a:endParaRPr lang="en-US" sz="4000" dirty="0"/>
          </a:p>
        </p:txBody>
      </p:sp>
      <p:sp>
        <p:nvSpPr>
          <p:cNvPr id="14" name="Text 10"/>
          <p:cNvSpPr/>
          <p:nvPr/>
        </p:nvSpPr>
        <p:spPr>
          <a:xfrm>
            <a:off x="6263640" y="2148840"/>
            <a:ext cx="2468880"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Database Tables Implemented</a:t>
            </a:r>
            <a:endParaRPr lang="en-US" sz="1100" dirty="0"/>
          </a:p>
        </p:txBody>
      </p:sp>
      <p:sp>
        <p:nvSpPr>
          <p:cNvPr id="15" name="Shape 11"/>
          <p:cNvSpPr/>
          <p:nvPr/>
        </p:nvSpPr>
        <p:spPr>
          <a:xfrm>
            <a:off x="9006840" y="1371600"/>
            <a:ext cx="2651760" cy="1371600"/>
          </a:xfrm>
          <a:prstGeom prst="rect">
            <a:avLst/>
          </a:prstGeom>
          <a:solidFill>
            <a:srgbClr val="0B2A4A"/>
          </a:solidFill>
          <a:ln/>
        </p:spPr>
      </p:sp>
      <p:sp>
        <p:nvSpPr>
          <p:cNvPr id="16" name="Text 12"/>
          <p:cNvSpPr/>
          <p:nvPr/>
        </p:nvSpPr>
        <p:spPr>
          <a:xfrm>
            <a:off x="9006840" y="1417320"/>
            <a:ext cx="265176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99.9%</a:t>
            </a:r>
            <a:endParaRPr lang="en-US" sz="4000" dirty="0"/>
          </a:p>
        </p:txBody>
      </p:sp>
      <p:sp>
        <p:nvSpPr>
          <p:cNvPr id="17" name="Text 13"/>
          <p:cNvSpPr/>
          <p:nvPr/>
        </p:nvSpPr>
        <p:spPr>
          <a:xfrm>
            <a:off x="9098280" y="2148840"/>
            <a:ext cx="2468880"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Targeted System Uptime</a:t>
            </a:r>
            <a:endParaRPr lang="en-US" sz="1100" dirty="0"/>
          </a:p>
        </p:txBody>
      </p:sp>
      <p:sp>
        <p:nvSpPr>
          <p:cNvPr id="18" name="Text 14"/>
          <p:cNvSpPr/>
          <p:nvPr/>
        </p:nvSpPr>
        <p:spPr>
          <a:xfrm>
            <a:off x="640080" y="3108960"/>
            <a:ext cx="10881360" cy="411480"/>
          </a:xfrm>
          <a:prstGeom prst="rect">
            <a:avLst/>
          </a:prstGeom>
          <a:noFill/>
          <a:ln/>
        </p:spPr>
        <p:txBody>
          <a:bodyPr wrap="square" lIns="0" tIns="0" rIns="0" bIns="0" rtlCol="0" anchor="ctr"/>
          <a:lstStyle/>
          <a:p>
            <a:pPr indent="0" marL="0">
              <a:buNone/>
            </a:pPr>
            <a:r>
              <a:rPr lang="en-US" sz="1800" b="1" dirty="0">
                <a:solidFill>
                  <a:srgbClr val="0B2A4A"/>
                </a:solidFill>
                <a:latin typeface="Calibri" pitchFamily="34" charset="0"/>
                <a:ea typeface="Calibri" pitchFamily="34" charset="-122"/>
                <a:cs typeface="Calibri" pitchFamily="34" charset="-120"/>
              </a:rPr>
              <a:t>Key Achievements</a:t>
            </a:r>
            <a:endParaRPr lang="en-US" sz="1800" dirty="0"/>
          </a:p>
        </p:txBody>
      </p:sp>
      <p:sp>
        <p:nvSpPr>
          <p:cNvPr id="19" name="Shape 15"/>
          <p:cNvSpPr/>
          <p:nvPr/>
        </p:nvSpPr>
        <p:spPr>
          <a:xfrm>
            <a:off x="640080" y="3520440"/>
            <a:ext cx="1371600" cy="36576"/>
          </a:xfrm>
          <a:prstGeom prst="rect">
            <a:avLst/>
          </a:prstGeom>
          <a:solidFill>
            <a:srgbClr val="FFA000"/>
          </a:solidFill>
          <a:ln/>
        </p:spPr>
      </p:sp>
      <p:sp>
        <p:nvSpPr>
          <p:cNvPr id="20" name="Text 16"/>
          <p:cNvSpPr/>
          <p:nvPr/>
        </p:nvSpPr>
        <p:spPr>
          <a:xfrm>
            <a:off x="822960" y="3703320"/>
            <a:ext cx="1060704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Delivered a working prototype of TranspoLink covering all 7 modules end-to-end.</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Implemented secure JWT-based authentication with role-based access for 5 distinct user types.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Designed and deployed a normalised relational schema with 13 tables supporting all workflows.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Built responsive dashboards for Citizens, Officers, Operators, Admins, and Compliance roles.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Set up audit trails, KPI dashboards (incident response time, transport punctuality, compliance adherence).</a:t>
            </a:r>
            <a:endParaRPr lang="en-US" sz="1300" dirty="0"/>
          </a:p>
        </p:txBody>
      </p:sp>
      <p:sp>
        <p:nvSpPr>
          <p:cNvPr id="21" name="Text 1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22" name="Text 18"/>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Learning Experience</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Shape 2"/>
          <p:cNvSpPr/>
          <p:nvPr/>
        </p:nvSpPr>
        <p:spPr>
          <a:xfrm>
            <a:off x="365760" y="1463040"/>
            <a:ext cx="3657600" cy="2148840"/>
          </a:xfrm>
          <a:prstGeom prst="rect">
            <a:avLst/>
          </a:prstGeom>
          <a:solidFill>
            <a:srgbClr val="FFFFFF"/>
          </a:solidFill>
          <a:ln w="6350">
            <a:solidFill>
              <a:srgbClr val="E2E8F0"/>
            </a:solidFill>
            <a:prstDash val="solid"/>
          </a:ln>
        </p:spPr>
      </p:sp>
      <p:sp>
        <p:nvSpPr>
          <p:cNvPr id="7" name="Shape 3"/>
          <p:cNvSpPr/>
          <p:nvPr/>
        </p:nvSpPr>
        <p:spPr>
          <a:xfrm>
            <a:off x="365760" y="1463040"/>
            <a:ext cx="137160" cy="2148840"/>
          </a:xfrm>
          <a:prstGeom prst="rect">
            <a:avLst/>
          </a:prstGeom>
          <a:solidFill>
            <a:srgbClr val="1565C0"/>
          </a:solidFill>
          <a:ln/>
        </p:spPr>
      </p:sp>
      <p:sp>
        <p:nvSpPr>
          <p:cNvPr id="8" name="Text 4"/>
          <p:cNvSpPr/>
          <p:nvPr/>
        </p:nvSpPr>
        <p:spPr>
          <a:xfrm>
            <a:off x="685800" y="1691640"/>
            <a:ext cx="3200400" cy="41148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Technical Growth</a:t>
            </a:r>
            <a:endParaRPr lang="en-US" sz="1500" dirty="0"/>
          </a:p>
        </p:txBody>
      </p:sp>
      <p:sp>
        <p:nvSpPr>
          <p:cNvPr id="9" name="Text 5"/>
          <p:cNvSpPr/>
          <p:nvPr/>
        </p:nvSpPr>
        <p:spPr>
          <a:xfrm>
            <a:off x="685800" y="2194560"/>
            <a:ext cx="320040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Strengthened full-stack development skills, REST API design, and database modelling for real-world scenarios.</a:t>
            </a:r>
            <a:endParaRPr lang="en-US" sz="1200" dirty="0"/>
          </a:p>
        </p:txBody>
      </p:sp>
      <p:sp>
        <p:nvSpPr>
          <p:cNvPr id="10" name="Shape 6"/>
          <p:cNvSpPr/>
          <p:nvPr/>
        </p:nvSpPr>
        <p:spPr>
          <a:xfrm>
            <a:off x="4251960" y="1463040"/>
            <a:ext cx="3657600" cy="2148840"/>
          </a:xfrm>
          <a:prstGeom prst="rect">
            <a:avLst/>
          </a:prstGeom>
          <a:solidFill>
            <a:srgbClr val="FFFFFF"/>
          </a:solidFill>
          <a:ln w="6350">
            <a:solidFill>
              <a:srgbClr val="E2E8F0"/>
            </a:solidFill>
            <a:prstDash val="solid"/>
          </a:ln>
        </p:spPr>
      </p:sp>
      <p:sp>
        <p:nvSpPr>
          <p:cNvPr id="11" name="Shape 7"/>
          <p:cNvSpPr/>
          <p:nvPr/>
        </p:nvSpPr>
        <p:spPr>
          <a:xfrm>
            <a:off x="4251960" y="1463040"/>
            <a:ext cx="137160" cy="2148840"/>
          </a:xfrm>
          <a:prstGeom prst="rect">
            <a:avLst/>
          </a:prstGeom>
          <a:solidFill>
            <a:srgbClr val="00838F"/>
          </a:solidFill>
          <a:ln/>
        </p:spPr>
      </p:sp>
      <p:sp>
        <p:nvSpPr>
          <p:cNvPr id="12" name="Text 8"/>
          <p:cNvSpPr/>
          <p:nvPr/>
        </p:nvSpPr>
        <p:spPr>
          <a:xfrm>
            <a:off x="4572000" y="1691640"/>
            <a:ext cx="3200400" cy="41148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System Thinking</a:t>
            </a:r>
            <a:endParaRPr lang="en-US" sz="1500" dirty="0"/>
          </a:p>
        </p:txBody>
      </p:sp>
      <p:sp>
        <p:nvSpPr>
          <p:cNvPr id="13" name="Text 9"/>
          <p:cNvSpPr/>
          <p:nvPr/>
        </p:nvSpPr>
        <p:spPr>
          <a:xfrm>
            <a:off x="4572000" y="2194560"/>
            <a:ext cx="320040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Learned to break complex domains (urban mobility) into modular, maintainable microservices.</a:t>
            </a:r>
            <a:endParaRPr lang="en-US" sz="1200" dirty="0"/>
          </a:p>
        </p:txBody>
      </p:sp>
      <p:sp>
        <p:nvSpPr>
          <p:cNvPr id="14" name="Shape 10"/>
          <p:cNvSpPr/>
          <p:nvPr/>
        </p:nvSpPr>
        <p:spPr>
          <a:xfrm>
            <a:off x="8138160" y="1463040"/>
            <a:ext cx="3657600" cy="2148840"/>
          </a:xfrm>
          <a:prstGeom prst="rect">
            <a:avLst/>
          </a:prstGeom>
          <a:solidFill>
            <a:srgbClr val="FFFFFF"/>
          </a:solidFill>
          <a:ln w="6350">
            <a:solidFill>
              <a:srgbClr val="E2E8F0"/>
            </a:solidFill>
            <a:prstDash val="solid"/>
          </a:ln>
        </p:spPr>
      </p:sp>
      <p:sp>
        <p:nvSpPr>
          <p:cNvPr id="15" name="Shape 11"/>
          <p:cNvSpPr/>
          <p:nvPr/>
        </p:nvSpPr>
        <p:spPr>
          <a:xfrm>
            <a:off x="8138160" y="1463040"/>
            <a:ext cx="137160" cy="2148840"/>
          </a:xfrm>
          <a:prstGeom prst="rect">
            <a:avLst/>
          </a:prstGeom>
          <a:solidFill>
            <a:srgbClr val="FFA000"/>
          </a:solidFill>
          <a:ln/>
        </p:spPr>
      </p:sp>
      <p:sp>
        <p:nvSpPr>
          <p:cNvPr id="16" name="Text 12"/>
          <p:cNvSpPr/>
          <p:nvPr/>
        </p:nvSpPr>
        <p:spPr>
          <a:xfrm>
            <a:off x="8458200" y="1691640"/>
            <a:ext cx="3200400" cy="41148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Security Mindset</a:t>
            </a:r>
            <a:endParaRPr lang="en-US" sz="1500" dirty="0"/>
          </a:p>
        </p:txBody>
      </p:sp>
      <p:sp>
        <p:nvSpPr>
          <p:cNvPr id="17" name="Text 13"/>
          <p:cNvSpPr/>
          <p:nvPr/>
        </p:nvSpPr>
        <p:spPr>
          <a:xfrm>
            <a:off x="8458200" y="2194560"/>
            <a:ext cx="320040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Understood the importance of RBAC, encryption, and immutable audit logs in civic systems.</a:t>
            </a:r>
            <a:endParaRPr lang="en-US" sz="1200" dirty="0"/>
          </a:p>
        </p:txBody>
      </p:sp>
      <p:sp>
        <p:nvSpPr>
          <p:cNvPr id="18" name="Shape 14"/>
          <p:cNvSpPr/>
          <p:nvPr/>
        </p:nvSpPr>
        <p:spPr>
          <a:xfrm>
            <a:off x="365760" y="3886200"/>
            <a:ext cx="3657600" cy="2148840"/>
          </a:xfrm>
          <a:prstGeom prst="rect">
            <a:avLst/>
          </a:prstGeom>
          <a:solidFill>
            <a:srgbClr val="FFFFFF"/>
          </a:solidFill>
          <a:ln w="6350">
            <a:solidFill>
              <a:srgbClr val="E2E8F0"/>
            </a:solidFill>
            <a:prstDash val="solid"/>
          </a:ln>
        </p:spPr>
      </p:sp>
      <p:sp>
        <p:nvSpPr>
          <p:cNvPr id="19" name="Shape 15"/>
          <p:cNvSpPr/>
          <p:nvPr/>
        </p:nvSpPr>
        <p:spPr>
          <a:xfrm>
            <a:off x="365760" y="3886200"/>
            <a:ext cx="137160" cy="2148840"/>
          </a:xfrm>
          <a:prstGeom prst="rect">
            <a:avLst/>
          </a:prstGeom>
          <a:solidFill>
            <a:srgbClr val="0B2A4A"/>
          </a:solidFill>
          <a:ln/>
        </p:spPr>
      </p:sp>
      <p:sp>
        <p:nvSpPr>
          <p:cNvPr id="20" name="Text 16"/>
          <p:cNvSpPr/>
          <p:nvPr/>
        </p:nvSpPr>
        <p:spPr>
          <a:xfrm>
            <a:off x="685800" y="4114800"/>
            <a:ext cx="3200400" cy="41148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Collaboration</a:t>
            </a:r>
            <a:endParaRPr lang="en-US" sz="1500" dirty="0"/>
          </a:p>
        </p:txBody>
      </p:sp>
      <p:sp>
        <p:nvSpPr>
          <p:cNvPr id="21" name="Text 17"/>
          <p:cNvSpPr/>
          <p:nvPr/>
        </p:nvSpPr>
        <p:spPr>
          <a:xfrm>
            <a:off x="685800" y="4617720"/>
            <a:ext cx="320040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Worked with Agile sprints, code reviews, and Git-based collaboration on a team codebase.</a:t>
            </a:r>
            <a:endParaRPr lang="en-US" sz="1200" dirty="0"/>
          </a:p>
        </p:txBody>
      </p:sp>
      <p:sp>
        <p:nvSpPr>
          <p:cNvPr id="22" name="Shape 18"/>
          <p:cNvSpPr/>
          <p:nvPr/>
        </p:nvSpPr>
        <p:spPr>
          <a:xfrm>
            <a:off x="4251960" y="3886200"/>
            <a:ext cx="3657600" cy="2148840"/>
          </a:xfrm>
          <a:prstGeom prst="rect">
            <a:avLst/>
          </a:prstGeom>
          <a:solidFill>
            <a:srgbClr val="FFFFFF"/>
          </a:solidFill>
          <a:ln w="6350">
            <a:solidFill>
              <a:srgbClr val="E2E8F0"/>
            </a:solidFill>
            <a:prstDash val="solid"/>
          </a:ln>
        </p:spPr>
      </p:sp>
      <p:sp>
        <p:nvSpPr>
          <p:cNvPr id="23" name="Shape 19"/>
          <p:cNvSpPr/>
          <p:nvPr/>
        </p:nvSpPr>
        <p:spPr>
          <a:xfrm>
            <a:off x="4251960" y="3886200"/>
            <a:ext cx="137160" cy="2148840"/>
          </a:xfrm>
          <a:prstGeom prst="rect">
            <a:avLst/>
          </a:prstGeom>
          <a:solidFill>
            <a:srgbClr val="1565C0"/>
          </a:solidFill>
          <a:ln/>
        </p:spPr>
      </p:sp>
      <p:sp>
        <p:nvSpPr>
          <p:cNvPr id="24" name="Text 20"/>
          <p:cNvSpPr/>
          <p:nvPr/>
        </p:nvSpPr>
        <p:spPr>
          <a:xfrm>
            <a:off x="4572000" y="4114800"/>
            <a:ext cx="3200400" cy="41148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Problem Solving</a:t>
            </a:r>
            <a:endParaRPr lang="en-US" sz="1500" dirty="0"/>
          </a:p>
        </p:txBody>
      </p:sp>
      <p:sp>
        <p:nvSpPr>
          <p:cNvPr id="25" name="Text 21"/>
          <p:cNvSpPr/>
          <p:nvPr/>
        </p:nvSpPr>
        <p:spPr>
          <a:xfrm>
            <a:off x="4572000" y="4617720"/>
            <a:ext cx="320040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Debugged production-style issues spanning API, database, and UI layers.</a:t>
            </a:r>
            <a:endParaRPr lang="en-US" sz="1200" dirty="0"/>
          </a:p>
        </p:txBody>
      </p:sp>
      <p:sp>
        <p:nvSpPr>
          <p:cNvPr id="26" name="Shape 22"/>
          <p:cNvSpPr/>
          <p:nvPr/>
        </p:nvSpPr>
        <p:spPr>
          <a:xfrm>
            <a:off x="8138160" y="3886200"/>
            <a:ext cx="3657600" cy="2148840"/>
          </a:xfrm>
          <a:prstGeom prst="rect">
            <a:avLst/>
          </a:prstGeom>
          <a:solidFill>
            <a:srgbClr val="FFFFFF"/>
          </a:solidFill>
          <a:ln w="6350">
            <a:solidFill>
              <a:srgbClr val="E2E8F0"/>
            </a:solidFill>
            <a:prstDash val="solid"/>
          </a:ln>
        </p:spPr>
      </p:sp>
      <p:sp>
        <p:nvSpPr>
          <p:cNvPr id="27" name="Shape 23"/>
          <p:cNvSpPr/>
          <p:nvPr/>
        </p:nvSpPr>
        <p:spPr>
          <a:xfrm>
            <a:off x="8138160" y="3886200"/>
            <a:ext cx="137160" cy="2148840"/>
          </a:xfrm>
          <a:prstGeom prst="rect">
            <a:avLst/>
          </a:prstGeom>
          <a:solidFill>
            <a:srgbClr val="00838F"/>
          </a:solidFill>
          <a:ln/>
        </p:spPr>
      </p:sp>
      <p:sp>
        <p:nvSpPr>
          <p:cNvPr id="28" name="Text 24"/>
          <p:cNvSpPr/>
          <p:nvPr/>
        </p:nvSpPr>
        <p:spPr>
          <a:xfrm>
            <a:off x="8458200" y="4114800"/>
            <a:ext cx="3200400" cy="411480"/>
          </a:xfrm>
          <a:prstGeom prst="rect">
            <a:avLst/>
          </a:prstGeom>
          <a:noFill/>
          <a:ln/>
        </p:spPr>
        <p:txBody>
          <a:bodyPr wrap="square" lIns="0" tIns="0" rIns="0" bIns="0" rtlCol="0" anchor="ctr"/>
          <a:lstStyle/>
          <a:p>
            <a:pPr indent="0" marL="0">
              <a:buNone/>
            </a:pPr>
            <a:r>
              <a:rPr lang="en-US" sz="1500" b="1" dirty="0">
                <a:solidFill>
                  <a:srgbClr val="0B2A4A"/>
                </a:solidFill>
                <a:latin typeface="Calibri" pitchFamily="34" charset="0"/>
                <a:ea typeface="Calibri" pitchFamily="34" charset="-122"/>
                <a:cs typeface="Calibri" pitchFamily="34" charset="-120"/>
              </a:rPr>
              <a:t>Professional Skills</a:t>
            </a:r>
            <a:endParaRPr lang="en-US" sz="1500" dirty="0"/>
          </a:p>
        </p:txBody>
      </p:sp>
      <p:sp>
        <p:nvSpPr>
          <p:cNvPr id="29" name="Text 25"/>
          <p:cNvSpPr/>
          <p:nvPr/>
        </p:nvSpPr>
        <p:spPr>
          <a:xfrm>
            <a:off x="8458200" y="4617720"/>
            <a:ext cx="3200400" cy="12344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Improved documentation, time management, and presentation of technical work to stakeholders.</a:t>
            </a:r>
            <a:endParaRPr lang="en-US" sz="1200" dirty="0"/>
          </a:p>
        </p:txBody>
      </p:sp>
      <p:sp>
        <p:nvSpPr>
          <p:cNvPr id="30" name="Text 26"/>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31" name="Text 27"/>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Conclusion</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Shape 2"/>
          <p:cNvSpPr/>
          <p:nvPr/>
        </p:nvSpPr>
        <p:spPr>
          <a:xfrm>
            <a:off x="640080" y="1371600"/>
            <a:ext cx="10881360" cy="2194560"/>
          </a:xfrm>
          <a:prstGeom prst="rect">
            <a:avLst/>
          </a:prstGeom>
          <a:solidFill>
            <a:srgbClr val="F4F7FB"/>
          </a:solidFill>
          <a:ln/>
        </p:spPr>
      </p:sp>
      <p:sp>
        <p:nvSpPr>
          <p:cNvPr id="7" name="Shape 3"/>
          <p:cNvSpPr/>
          <p:nvPr/>
        </p:nvSpPr>
        <p:spPr>
          <a:xfrm>
            <a:off x="640080" y="1371600"/>
            <a:ext cx="137160" cy="2194560"/>
          </a:xfrm>
          <a:prstGeom prst="rect">
            <a:avLst/>
          </a:prstGeom>
          <a:solidFill>
            <a:srgbClr val="1565C0"/>
          </a:solidFill>
          <a:ln/>
        </p:spPr>
      </p:sp>
      <p:sp>
        <p:nvSpPr>
          <p:cNvPr id="8" name="Text 4"/>
          <p:cNvSpPr/>
          <p:nvPr/>
        </p:nvSpPr>
        <p:spPr>
          <a:xfrm>
            <a:off x="914400" y="1508760"/>
            <a:ext cx="10424160" cy="19202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The TranspoLink internship project provided hands-on exposure to building a real-world, multi-stakeholder web platform for urban transportation. By designing and developing modules across identity, incident management, transport operations, compliance and analytics, the experience bridged classroom concepts with industry-grade software engineering practices. The result is a scalable, secure, and citizen-centric system architecture, ready for extension to multi-city deployment.</a:t>
            </a:r>
            <a:endParaRPr lang="en-US" sz="1400" dirty="0"/>
          </a:p>
        </p:txBody>
      </p:sp>
      <p:sp>
        <p:nvSpPr>
          <p:cNvPr id="9" name="Shape 5"/>
          <p:cNvSpPr/>
          <p:nvPr/>
        </p:nvSpPr>
        <p:spPr>
          <a:xfrm>
            <a:off x="411480" y="3931920"/>
            <a:ext cx="3657600" cy="1554480"/>
          </a:xfrm>
          <a:prstGeom prst="rect">
            <a:avLst/>
          </a:prstGeom>
          <a:solidFill>
            <a:srgbClr val="0B2A4A"/>
          </a:solidFill>
          <a:ln/>
        </p:spPr>
      </p:sp>
      <p:sp>
        <p:nvSpPr>
          <p:cNvPr id="10" name="Text 6"/>
          <p:cNvSpPr/>
          <p:nvPr/>
        </p:nvSpPr>
        <p:spPr>
          <a:xfrm>
            <a:off x="594360" y="4160520"/>
            <a:ext cx="32918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Scalable Design</a:t>
            </a:r>
            <a:endParaRPr lang="en-US" sz="1700" dirty="0"/>
          </a:p>
        </p:txBody>
      </p:sp>
      <p:sp>
        <p:nvSpPr>
          <p:cNvPr id="11" name="Text 7"/>
          <p:cNvSpPr/>
          <p:nvPr/>
        </p:nvSpPr>
        <p:spPr>
          <a:xfrm>
            <a:off x="594360" y="4709160"/>
            <a:ext cx="3291840" cy="64008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Modular microservices ready for multi-city rollout</a:t>
            </a:r>
            <a:endParaRPr lang="en-US" sz="1200" dirty="0"/>
          </a:p>
        </p:txBody>
      </p:sp>
      <p:sp>
        <p:nvSpPr>
          <p:cNvPr id="12" name="Shape 8"/>
          <p:cNvSpPr/>
          <p:nvPr/>
        </p:nvSpPr>
        <p:spPr>
          <a:xfrm>
            <a:off x="4251960" y="3931920"/>
            <a:ext cx="3657600" cy="1554480"/>
          </a:xfrm>
          <a:prstGeom prst="rect">
            <a:avLst/>
          </a:prstGeom>
          <a:solidFill>
            <a:srgbClr val="00838F"/>
          </a:solidFill>
          <a:ln/>
        </p:spPr>
      </p:sp>
      <p:sp>
        <p:nvSpPr>
          <p:cNvPr id="13" name="Text 9"/>
          <p:cNvSpPr/>
          <p:nvPr/>
        </p:nvSpPr>
        <p:spPr>
          <a:xfrm>
            <a:off x="4434840" y="4160520"/>
            <a:ext cx="32918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Secure by Default</a:t>
            </a:r>
            <a:endParaRPr lang="en-US" sz="1700" dirty="0"/>
          </a:p>
        </p:txBody>
      </p:sp>
      <p:sp>
        <p:nvSpPr>
          <p:cNvPr id="14" name="Text 10"/>
          <p:cNvSpPr/>
          <p:nvPr/>
        </p:nvSpPr>
        <p:spPr>
          <a:xfrm>
            <a:off x="4434840" y="4709160"/>
            <a:ext cx="3291840" cy="64008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RBAC, encryption and immutable audit logs</a:t>
            </a:r>
            <a:endParaRPr lang="en-US" sz="1200" dirty="0"/>
          </a:p>
        </p:txBody>
      </p:sp>
      <p:sp>
        <p:nvSpPr>
          <p:cNvPr id="15" name="Shape 11"/>
          <p:cNvSpPr/>
          <p:nvPr/>
        </p:nvSpPr>
        <p:spPr>
          <a:xfrm>
            <a:off x="8092440" y="3931920"/>
            <a:ext cx="3657600" cy="1554480"/>
          </a:xfrm>
          <a:prstGeom prst="rect">
            <a:avLst/>
          </a:prstGeom>
          <a:solidFill>
            <a:srgbClr val="FFA000"/>
          </a:solidFill>
          <a:ln/>
        </p:spPr>
      </p:sp>
      <p:sp>
        <p:nvSpPr>
          <p:cNvPr id="16" name="Text 12"/>
          <p:cNvSpPr/>
          <p:nvPr/>
        </p:nvSpPr>
        <p:spPr>
          <a:xfrm>
            <a:off x="8275320" y="4160520"/>
            <a:ext cx="32918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Citizen-Centric</a:t>
            </a:r>
            <a:endParaRPr lang="en-US" sz="1700" dirty="0"/>
          </a:p>
        </p:txBody>
      </p:sp>
      <p:sp>
        <p:nvSpPr>
          <p:cNvPr id="17" name="Text 13"/>
          <p:cNvSpPr/>
          <p:nvPr/>
        </p:nvSpPr>
        <p:spPr>
          <a:xfrm>
            <a:off x="8275320" y="4709160"/>
            <a:ext cx="3291840" cy="640080"/>
          </a:xfrm>
          <a:prstGeom prst="rect">
            <a:avLst/>
          </a:prstGeom>
          <a:noFill/>
          <a:ln/>
        </p:spPr>
        <p:txBody>
          <a:bodyPr wrap="square" lIns="0" tIns="0" rIns="0" bIns="0" rtlCol="0" anchor="ctr"/>
          <a:lstStyle/>
          <a:p>
            <a:pPr algn="ctr" indent="0" marL="0">
              <a:buNone/>
            </a:pPr>
            <a:r>
              <a:rPr lang="en-US" sz="1200" dirty="0">
                <a:solidFill>
                  <a:srgbClr val="0B2A4A"/>
                </a:solidFill>
                <a:latin typeface="Calibri" pitchFamily="34" charset="0"/>
                <a:ea typeface="Calibri" pitchFamily="34" charset="-122"/>
                <a:cs typeface="Calibri" pitchFamily="34" charset="-120"/>
              </a:rPr>
              <a:t>Transparent dashboards for all stakeholder roles</a:t>
            </a:r>
            <a:endParaRPr lang="en-US" sz="1200" dirty="0"/>
          </a:p>
        </p:txBody>
      </p:sp>
      <p:sp>
        <p:nvSpPr>
          <p:cNvPr id="18" name="Text 14"/>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19" name="Text 15"/>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home/claude/ycce_logo.jpg">    </p:cNvPr>
          <p:cNvPicPr>
            <a:picLocks noChangeAspect="1"/>
          </p:cNvPicPr>
          <p:nvPr/>
        </p:nvPicPr>
        <p:blipFill>
          <a:blip r:embed="rId1"/>
          <a:stretch>
            <a:fillRect/>
          </a:stretch>
        </p:blipFill>
        <p:spPr>
          <a:xfrm>
            <a:off x="320040" y="228600"/>
            <a:ext cx="777240" cy="777240"/>
          </a:xfrm>
          <a:prstGeom prst="rect">
            <a:avLst/>
          </a:prstGeom>
        </p:spPr>
      </p:pic>
      <p:pic>
        <p:nvPicPr>
          <p:cNvPr id="3" name="Image 1" descr="/home/claude/meghe_logo.jpg">    </p:cNvPr>
          <p:cNvPicPr>
            <a:picLocks noChangeAspect="1"/>
          </p:cNvPicPr>
          <p:nvPr/>
        </p:nvPicPr>
        <p:blipFill>
          <a:blip r:embed="rId2"/>
          <a:stretch>
            <a:fillRect/>
          </a:stretch>
        </p:blipFill>
        <p:spPr>
          <a:xfrm>
            <a:off x="11064240" y="228600"/>
            <a:ext cx="777240" cy="685800"/>
          </a:xfrm>
          <a:prstGeom prst="rect">
            <a:avLst/>
          </a:prstGeom>
        </p:spPr>
      </p:pic>
      <p:sp>
        <p:nvSpPr>
          <p:cNvPr id="4" name="Text 0"/>
          <p:cNvSpPr/>
          <p:nvPr/>
        </p:nvSpPr>
        <p:spPr>
          <a:xfrm>
            <a:off x="1280160" y="274320"/>
            <a:ext cx="9601200" cy="731520"/>
          </a:xfrm>
          <a:prstGeom prst="rect">
            <a:avLst/>
          </a:prstGeom>
          <a:noFill/>
          <a:ln/>
        </p:spPr>
        <p:txBody>
          <a:bodyPr wrap="square" lIns="0" tIns="0" rIns="0" bIns="0" rtlCol="0" anchor="ctr"/>
          <a:lstStyle/>
          <a:p>
            <a:pPr algn="ctr" indent="0" marL="0">
              <a:buNone/>
            </a:pPr>
            <a:r>
              <a:rPr lang="en-US" sz="3000" b="1" dirty="0">
                <a:solidFill>
                  <a:srgbClr val="0B2A4A"/>
                </a:solidFill>
                <a:latin typeface="Calibri" pitchFamily="34" charset="0"/>
                <a:ea typeface="Calibri" pitchFamily="34" charset="-122"/>
                <a:cs typeface="Calibri" pitchFamily="34" charset="-120"/>
              </a:rPr>
              <a:t>References</a:t>
            </a:r>
            <a:endParaRPr lang="en-US" sz="3000" dirty="0"/>
          </a:p>
        </p:txBody>
      </p:sp>
      <p:sp>
        <p:nvSpPr>
          <p:cNvPr id="5" name="Shape 1"/>
          <p:cNvSpPr/>
          <p:nvPr/>
        </p:nvSpPr>
        <p:spPr>
          <a:xfrm>
            <a:off x="4983480" y="1024128"/>
            <a:ext cx="2194560" cy="45720"/>
          </a:xfrm>
          <a:prstGeom prst="rect">
            <a:avLst/>
          </a:prstGeom>
          <a:solidFill>
            <a:srgbClr val="FFA000"/>
          </a:solidFill>
          <a:ln/>
        </p:spPr>
      </p:sp>
      <p:sp>
        <p:nvSpPr>
          <p:cNvPr id="6" name="Text 2"/>
          <p:cNvSpPr/>
          <p:nvPr/>
        </p:nvSpPr>
        <p:spPr>
          <a:xfrm>
            <a:off x="822960" y="1417320"/>
            <a:ext cx="10515600" cy="4846320"/>
          </a:xfrm>
          <a:prstGeom prst="rect">
            <a:avLst/>
          </a:prstGeom>
          <a:noFill/>
          <a:ln/>
        </p:spPr>
        <p:txBody>
          <a:bodyPr wrap="square" lIns="0" tIns="0" rIns="0" bIns="0" rtlCol="0" anchor="t"/>
          <a:lstStyle/>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[1]  Project SRS — TranspoLink: Smart Transportation &amp; Traffic Management System (Internal Document, 2025).</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[2]  Pivotal Software, “Spring Boot Reference Documentation,” https://spring.io/projects/spring-boot</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[3]  Microsoft, “ASP.NET Core Documentation,” https://learn.microsoft.com/aspnet/core</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[4]  Google, “Angular Documentation,” https://angular.dev</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[5]  Meta Open Source, “React Documentation,” https://react.dev</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[6]  PostgreSQL Global Development Group, “PostgreSQL Documentation,” https://www.postgresql.org/docs/</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[7]  OWASP Foundation, “OWASP Top Ten Web Application Security Risks,” https://owasp.org/Top10/</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[8]  Martin Fowler, “Microservices,” https://martinfowler.com/articles/microservices.html</a:t>
            </a:r>
            <a:endParaRPr lang="en-US" sz="1300" dirty="0"/>
          </a:p>
        </p:txBody>
      </p:sp>
      <p:sp>
        <p:nvSpPr>
          <p:cNvPr id="7" name="Text 3"/>
          <p:cNvSpPr/>
          <p:nvPr/>
        </p:nvSpPr>
        <p:spPr>
          <a:xfrm>
            <a:off x="365760" y="6492240"/>
            <a:ext cx="54864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TranspoLink | ESE Internship Seminar 2025-26</a:t>
            </a:r>
            <a:endParaRPr lang="en-US" sz="900" dirty="0"/>
          </a:p>
        </p:txBody>
      </p:sp>
      <p:sp>
        <p:nvSpPr>
          <p:cNvPr id="8" name="Text 4"/>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1100" b="1" dirty="0">
                <a:solidFill>
                  <a:srgbClr val="0B2A4A"/>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A4A"/>
        </a:solidFill>
      </p:bgPr>
    </p:bg>
    <p:spTree>
      <p:nvGrpSpPr>
        <p:cNvPr id="1" name=""/>
        <p:cNvGrpSpPr/>
        <p:nvPr/>
      </p:nvGrpSpPr>
      <p:grpSpPr>
        <a:xfrm>
          <a:off x="0" y="0"/>
          <a:ext cx="0" cy="0"/>
          <a:chOff x="0" y="0"/>
          <a:chExt cx="0" cy="0"/>
        </a:xfrm>
      </p:grpSpPr>
      <p:sp>
        <p:nvSpPr>
          <p:cNvPr id="2" name="Shape 0"/>
          <p:cNvSpPr/>
          <p:nvPr/>
        </p:nvSpPr>
        <p:spPr>
          <a:xfrm>
            <a:off x="0" y="2560320"/>
            <a:ext cx="12161520" cy="54864"/>
          </a:xfrm>
          <a:prstGeom prst="rect">
            <a:avLst/>
          </a:prstGeom>
          <a:solidFill>
            <a:srgbClr val="FFA000"/>
          </a:solidFill>
          <a:ln/>
        </p:spPr>
      </p:sp>
      <p:sp>
        <p:nvSpPr>
          <p:cNvPr id="3" name="Shape 1"/>
          <p:cNvSpPr/>
          <p:nvPr/>
        </p:nvSpPr>
        <p:spPr>
          <a:xfrm>
            <a:off x="0" y="4206240"/>
            <a:ext cx="12161520" cy="54864"/>
          </a:xfrm>
          <a:prstGeom prst="rect">
            <a:avLst/>
          </a:prstGeom>
          <a:solidFill>
            <a:srgbClr val="FFA000"/>
          </a:solidFill>
          <a:ln/>
        </p:spPr>
      </p:sp>
      <p:pic>
        <p:nvPicPr>
          <p:cNvPr id="4" name="Image 0" descr="/home/claude/ycce_logo.jpg">    </p:cNvPr>
          <p:cNvPicPr>
            <a:picLocks noChangeAspect="1"/>
          </p:cNvPicPr>
          <p:nvPr/>
        </p:nvPicPr>
        <p:blipFill>
          <a:blip r:embed="rId1"/>
          <a:stretch>
            <a:fillRect/>
          </a:stretch>
        </p:blipFill>
        <p:spPr>
          <a:xfrm>
            <a:off x="457200" y="365760"/>
            <a:ext cx="914400" cy="914400"/>
          </a:xfrm>
          <a:prstGeom prst="rect">
            <a:avLst/>
          </a:prstGeom>
        </p:spPr>
      </p:pic>
      <p:pic>
        <p:nvPicPr>
          <p:cNvPr id="5" name="Image 1" descr="/home/claude/meghe_logo.jpg">    </p:cNvPr>
          <p:cNvPicPr>
            <a:picLocks noChangeAspect="1"/>
          </p:cNvPicPr>
          <p:nvPr/>
        </p:nvPicPr>
        <p:blipFill>
          <a:blip r:embed="rId2"/>
          <a:stretch>
            <a:fillRect/>
          </a:stretch>
        </p:blipFill>
        <p:spPr>
          <a:xfrm>
            <a:off x="10789920" y="457200"/>
            <a:ext cx="914400" cy="777240"/>
          </a:xfrm>
          <a:prstGeom prst="rect">
            <a:avLst/>
          </a:prstGeom>
        </p:spPr>
      </p:pic>
      <p:sp>
        <p:nvSpPr>
          <p:cNvPr id="6" name="Text 2"/>
          <p:cNvSpPr/>
          <p:nvPr/>
        </p:nvSpPr>
        <p:spPr>
          <a:xfrm>
            <a:off x="457200" y="2743200"/>
            <a:ext cx="11247120" cy="1371600"/>
          </a:xfrm>
          <a:prstGeom prst="rect">
            <a:avLst/>
          </a:prstGeom>
          <a:noFill/>
          <a:ln/>
        </p:spPr>
        <p:txBody>
          <a:bodyPr wrap="square" lIns="0" tIns="0" rIns="0" bIns="0" rtlCol="0" anchor="ctr"/>
          <a:lstStyle/>
          <a:p>
            <a:pPr algn="ctr" indent="0" marL="0">
              <a:buNone/>
            </a:pPr>
            <a:r>
              <a:rPr lang="en-US" sz="8000" b="1" spc="800" kern="0" dirty="0">
                <a:solidFill>
                  <a:srgbClr val="FFFFFF"/>
                </a:solidFill>
                <a:latin typeface="Calibri" pitchFamily="34" charset="0"/>
                <a:ea typeface="Calibri" pitchFamily="34" charset="-122"/>
                <a:cs typeface="Calibri" pitchFamily="34" charset="-120"/>
              </a:rPr>
              <a:t>THANK YOU</a:t>
            </a:r>
            <a:endParaRPr lang="en-US" sz="8000" dirty="0"/>
          </a:p>
        </p:txBody>
      </p:sp>
      <p:sp>
        <p:nvSpPr>
          <p:cNvPr id="7" name="Text 3"/>
          <p:cNvSpPr/>
          <p:nvPr/>
        </p:nvSpPr>
        <p:spPr>
          <a:xfrm>
            <a:off x="457200" y="4297680"/>
            <a:ext cx="11247120" cy="548640"/>
          </a:xfrm>
          <a:prstGeom prst="rect">
            <a:avLst/>
          </a:prstGeom>
          <a:noFill/>
          <a:ln/>
        </p:spPr>
        <p:txBody>
          <a:bodyPr wrap="square" lIns="0" tIns="0" rIns="0" bIns="0" rtlCol="0" anchor="ctr"/>
          <a:lstStyle/>
          <a:p>
            <a:pPr algn="ctr" indent="0" marL="0">
              <a:buNone/>
            </a:pPr>
            <a:r>
              <a:rPr lang="en-US" sz="2200" i="1" dirty="0">
                <a:solidFill>
                  <a:srgbClr val="FFA000"/>
                </a:solidFill>
                <a:latin typeface="Calibri" pitchFamily="34" charset="0"/>
                <a:ea typeface="Calibri" pitchFamily="34" charset="-122"/>
                <a:cs typeface="Calibri" pitchFamily="34" charset="-120"/>
              </a:rPr>
              <a:t>Questions &amp; Discussion</a:t>
            </a:r>
            <a:endParaRPr lang="en-US" sz="2200" dirty="0"/>
          </a:p>
        </p:txBody>
      </p:sp>
      <p:sp>
        <p:nvSpPr>
          <p:cNvPr id="8" name="Text 4"/>
          <p:cNvSpPr/>
          <p:nvPr/>
        </p:nvSpPr>
        <p:spPr>
          <a:xfrm>
            <a:off x="457200" y="6309360"/>
            <a:ext cx="11247120" cy="32004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Department of Information Technology  •  YCCE Nagpur  •  Session 2025-26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TranspoLink - Smart Transportation &amp; Traffic Management System</dc:title>
  <dc:subject>PptxGenJS Presentation</dc:subject>
  <dc:creator>YCCE IT Department</dc:creator>
  <cp:lastModifiedBy>YCCE IT Department</cp:lastModifiedBy>
  <cp:revision>1</cp:revision>
  <dcterms:created xsi:type="dcterms:W3CDTF">2026-05-15T05:28:58Z</dcterms:created>
  <dcterms:modified xsi:type="dcterms:W3CDTF">2026-05-15T05:28:58Z</dcterms:modified>
</cp:coreProperties>
</file>